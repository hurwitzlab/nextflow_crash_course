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8.pn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3" r:id="rId3"/>
    <p:sldId id="274" r:id="rId4"/>
    <p:sldId id="260" r:id="rId5"/>
    <p:sldId id="257" r:id="rId6"/>
    <p:sldId id="287" r:id="rId7"/>
    <p:sldId id="258" r:id="rId8"/>
    <p:sldId id="271" r:id="rId9"/>
    <p:sldId id="270" r:id="rId10"/>
    <p:sldId id="272" r:id="rId11"/>
    <p:sldId id="276" r:id="rId12"/>
    <p:sldId id="282" r:id="rId13"/>
    <p:sldId id="283" r:id="rId14"/>
    <p:sldId id="275" r:id="rId15"/>
    <p:sldId id="285" r:id="rId16"/>
    <p:sldId id="284" r:id="rId17"/>
    <p:sldId id="286" r:id="rId18"/>
    <p:sldId id="281" r:id="rId19"/>
    <p:sldId id="277" r:id="rId20"/>
    <p:sldId id="290" r:id="rId21"/>
    <p:sldId id="291" r:id="rId22"/>
    <p:sldId id="303" r:id="rId23"/>
    <p:sldId id="305" r:id="rId24"/>
    <p:sldId id="309" r:id="rId25"/>
    <p:sldId id="311" r:id="rId26"/>
    <p:sldId id="31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BE99"/>
    <a:srgbClr val="BF9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/>
    <p:restoredTop sz="82464"/>
  </p:normalViewPr>
  <p:slideViewPr>
    <p:cSldViewPr snapToGrid="0">
      <p:cViewPr varScale="1">
        <p:scale>
          <a:sx n="97" d="100"/>
          <a:sy n="97" d="100"/>
        </p:scale>
        <p:origin x="19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84A49-CA76-E84D-B4CB-59BA5B0597A2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EA08E-C47D-AB46-A93F-BAC6507A6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28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EA08E-C47D-AB46-A93F-BAC6507A65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29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B0662-0BB0-A76F-794F-8643D9E0F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CE147-3464-757D-C634-403EDF83A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DFD67-4A73-06FD-272B-0E4B38450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/>
              <a:t>Reproducibility</a:t>
            </a:r>
            <a:br>
              <a:rPr lang="en-US" dirty="0"/>
            </a:br>
            <a:r>
              <a:rPr lang="en-US" dirty="0"/>
              <a:t>Box: </a:t>
            </a:r>
            <a:r>
              <a:rPr lang="en-US" i="1" dirty="0"/>
              <a:t>Same inputs, same software, same results, every time you run it.</a:t>
            </a:r>
            <a:br>
              <a:rPr lang="en-US" dirty="0"/>
            </a:br>
            <a:r>
              <a:rPr lang="en-US" dirty="0"/>
              <a:t>Speaker note: Pinned tool versions in containers (Day 2 §4) mean you and a colleague get identical results months apart.</a:t>
            </a:r>
          </a:p>
          <a:p>
            <a:pPr rtl="0"/>
            <a:r>
              <a:rPr lang="en-US" b="1" dirty="0"/>
              <a:t>Resumability</a:t>
            </a:r>
            <a:br>
              <a:rPr lang="en-US" dirty="0"/>
            </a:br>
            <a:r>
              <a:rPr lang="en-US" dirty="0"/>
              <a:t>Box: </a:t>
            </a:r>
            <a:r>
              <a:rPr lang="en-US" i="1" dirty="0"/>
              <a:t>If a step fails, fix it and pick up where you left off.</a:t>
            </a:r>
            <a:br>
              <a:rPr lang="en-US" dirty="0"/>
            </a:br>
            <a:r>
              <a:rPr lang="en-US" dirty="0"/>
              <a:t>Speaker note: </a:t>
            </a:r>
            <a:r>
              <a:rPr lang="en-US" dirty="0" err="1"/>
              <a:t>Nextflow</a:t>
            </a:r>
            <a:r>
              <a:rPr lang="en-US" dirty="0"/>
              <a:t> caches finished tasks in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work/</a:t>
            </a:r>
            <a:r>
              <a:rPr lang="en-US" dirty="0"/>
              <a:t>;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-resume</a:t>
            </a:r>
            <a:r>
              <a:rPr lang="en-US" dirty="0"/>
              <a:t> reruns only what changed or failed.</a:t>
            </a:r>
          </a:p>
          <a:p>
            <a:pPr rtl="0"/>
            <a:r>
              <a:rPr lang="en-US" b="1" dirty="0"/>
              <a:t>Scalability</a:t>
            </a:r>
            <a:br>
              <a:rPr lang="en-US" dirty="0"/>
            </a:br>
            <a:r>
              <a:rPr lang="en-US" dirty="0"/>
              <a:t>Box: </a:t>
            </a:r>
            <a:r>
              <a:rPr lang="en-US" i="1" dirty="0"/>
              <a:t>One sample or one thousand: the pipeline code doesn't change.</a:t>
            </a:r>
            <a:br>
              <a:rPr lang="en-US" dirty="0"/>
            </a:br>
            <a:r>
              <a:rPr lang="en-US" dirty="0"/>
              <a:t>Speaker note: Channels fan out work per sample automatically (Day 1), and the scheduler runs tasks in parallel.</a:t>
            </a:r>
          </a:p>
          <a:p>
            <a:pPr rtl="0"/>
            <a:r>
              <a:rPr lang="en-US" b="1" dirty="0"/>
              <a:t>Portability</a:t>
            </a:r>
            <a:br>
              <a:rPr lang="en-US" dirty="0"/>
            </a:br>
            <a:r>
              <a:rPr lang="en-US" dirty="0"/>
              <a:t>Box: </a:t>
            </a:r>
            <a:r>
              <a:rPr lang="en-US" i="1" dirty="0"/>
              <a:t>Run on a laptop, HPC, or cloud by changing config, not code.</a:t>
            </a:r>
            <a:br>
              <a:rPr lang="en-US" dirty="0"/>
            </a:br>
            <a:r>
              <a:rPr lang="en-US" dirty="0"/>
              <a:t>Speaker note: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-profile local</a:t>
            </a:r>
            <a:r>
              <a:rPr lang="en-US" dirty="0"/>
              <a:t> vs.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-profile hazel</a:t>
            </a:r>
            <a:r>
              <a:rPr lang="en-US" dirty="0"/>
              <a:t> (Day 2), where the same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main.nf</a:t>
            </a:r>
            <a:r>
              <a:rPr lang="en-US" dirty="0"/>
              <a:t> switches from your machine to SLURM + </a:t>
            </a:r>
            <a:r>
              <a:rPr lang="en-US" dirty="0" err="1"/>
              <a:t>Apptainer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02BB7-B796-EB2F-4893-C1800B17E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EA08E-C47D-AB46-A93F-BAC6507A65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44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point maps to a part of the workshop. Bash in processes (Day 1 process anatomy), channels (Day 1), executors and containers (Day 2), and </a:t>
            </a:r>
            <a:r>
              <a:rPr lang="en-US" dirty="0" err="1"/>
              <a:t>nf</a:t>
            </a:r>
            <a:r>
              <a:rPr lang="en-US" dirty="0"/>
              <a:t>-core is where students go after the course.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EA08E-C47D-AB46-A93F-BAC6507A65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96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ECDC5F-13D1-1842-B2D4-75E829F601D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43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635D4-F734-C573-2A24-CD94C09A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B2439-E69F-F5C4-9126-5E66298AF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8540D-111F-DAA4-E2E6-7A34FFD2A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614E0-5C3B-5B0E-C407-AC2A81451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C26C8-C37B-D543-9AB9-4FE91B5DFE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24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CC0C-E0D9-F3F0-5FAB-084E6BCE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C3E39-CBCB-34D5-5F6B-BCAA79058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E61E1-4FFC-B3AC-A1C3-A0B772F4E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A5970-D072-FD1F-21FF-0BD6BF068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C26C8-C37B-D543-9AB9-4FE91B5DFE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96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24F4C-2561-D993-E2AF-6C2F448C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58F02-F0A9-5C7F-59D3-45CF137DF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752F2-053D-BAF3-4747-65889D1D8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C9165-5886-2A22-7869-3C7F2BB53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C26C8-C37B-D543-9AB9-4FE91B5DFE3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20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9252-1C1E-877E-CA1C-31B484756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39EF6-6E96-6AA4-5166-F466F7F37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429BF-3C4E-F3FB-E5A5-21C39B9F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AEF7A-E919-29E3-D6A9-57C0931BE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E752C-FD82-5D96-63A5-496334AF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7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AE1C-A8FE-D670-51AB-B63B42FC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CD212-9284-B438-C41A-7F8EBAEB5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5EB67-BDF5-063A-B7BE-71655FAD9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DFC6A-48E9-2C1E-1F15-74E70378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66C5-732F-6C58-C5F2-D5A9EE6A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34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A413-9A8A-D796-D901-035FDBBD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632B2-A29A-D01C-4763-ACD29917C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26F58-1985-7F5D-A1B8-620F73D8D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D4936-3DA4-0948-00DE-432157D9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AC5E4-87DE-61B6-2386-313112610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BEBF2-40DF-6C9D-2E14-DC1F65ED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311C8-1407-06C2-5B60-C3F05CD64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C4743-BDC6-654D-6002-6CA1976A9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7BCC0-16FC-0A21-BE48-1FA9E3D34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308F8-324E-7325-34F7-4676612A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F94DC-FBBA-2789-F655-D279E1B4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08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552CC-E2FB-1CD2-AF98-447E932AD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C6A31-13EC-6931-ABBC-86E80B218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6CB6-1CE4-55BB-4218-EF597DC1E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14BCB-A59B-1B5F-36A1-3EB20F93E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861C3-99CD-ED19-D53A-F8E42D834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0FEDA-78F1-91F2-C7D3-7EBBE6FE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02A22E-9A11-09FB-801B-1B8A44A1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F0F7CC-4544-85CD-E686-2988544A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0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BBE36-D59D-4310-B622-2C63E751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491CC-D05A-16D1-4351-C6714022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80A09-F2E3-502B-8C98-A63F5391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6AE9D-A806-36C4-F170-193DEB71F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5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E023D-651F-ADBA-DBF3-6ABC88A8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9E4DC-45DC-4EE4-3647-8682785A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1CD55-1121-74CC-B567-042592C2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2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9AFF-B504-D78D-A341-1A90DE3DA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EE24B-122B-44ED-9619-358742B73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995ED-283C-F06D-9938-2436E237E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FF4C4-0E0E-40AC-AC48-67D1A311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A048B-4E2D-7C4C-EA2F-099867186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A4D91-075A-CB52-5241-518D5B26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12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2104-FB01-8607-E364-923EED42B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C7EC0-8995-5DC3-F61A-637D7E0C43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84182-E01B-585B-5E6C-16B56DB5F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67520-82E8-AA2D-B936-7D52A9E7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A7FA4-1A79-A035-D330-76AE5A70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9E70E-3A32-407E-5BD4-F41019A79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3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92C2-5B65-D43E-705C-DEF74EA5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DDB77-3993-6612-D3E6-F9F01FDFE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C9F5A-2FD4-F23F-A991-16389A1E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03651-51F9-80F8-0864-3F787CC2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BE5D7-C46B-C68D-484A-7EB1D244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4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53FC6B-AB01-FC68-B96C-908798AFC2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470D6-1D63-2D3F-7E7F-95AD1F112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FA32A-1110-CF58-C212-F1D891BF0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7F38E-34DA-4D9A-5BF1-CCB46168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38FF2-55B7-45CF-3604-A52F731C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46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C9324-9CD6-AA7D-7F59-DA026A07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1B51F-0D23-21F8-38CF-D6F837E0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EC808-6F79-B0F8-C600-1A2055FEB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83935-07C3-DB40-BDCF-E55515B19C93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B801D-262B-E276-115D-AF36F9EC8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B55DC-F2D6-27C8-C5FA-2CFBCB861D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90932-6DDC-F741-8350-FDAC016E4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2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urwitzlab.github.io/COS_Compute_Handbook/chapters/10_downloading_data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org&amp;utm_campaign=index&amp;utm_content=origina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F3AD32-1F0F-9CEC-3E2C-06972B53A20D}"/>
              </a:ext>
            </a:extLst>
          </p:cNvPr>
          <p:cNvSpPr txBox="1"/>
          <p:nvPr/>
        </p:nvSpPr>
        <p:spPr>
          <a:xfrm>
            <a:off x="1497795" y="1862666"/>
            <a:ext cx="536313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rgbClr val="C00000"/>
                </a:solidFill>
                <a:latin typeface="Helvetica" pitchFamily="2" charset="0"/>
              </a:rPr>
              <a:t>BRC’s</a:t>
            </a:r>
          </a:p>
          <a:p>
            <a:r>
              <a:rPr lang="en-US" sz="9600" dirty="0" err="1">
                <a:latin typeface="Helvetica" pitchFamily="2" charset="0"/>
              </a:rPr>
              <a:t>Nextflow</a:t>
            </a:r>
            <a:endParaRPr lang="en-US" sz="9600" dirty="0">
              <a:latin typeface="Helvetica" pitchFamily="2" charset="0"/>
            </a:endParaRPr>
          </a:p>
          <a:p>
            <a:r>
              <a:rPr lang="en-US" sz="9600" dirty="0">
                <a:latin typeface="Helvetica" pitchFamily="2" charset="0"/>
              </a:rPr>
              <a:t>Weekend</a:t>
            </a:r>
          </a:p>
        </p:txBody>
      </p:sp>
      <p:pic>
        <p:nvPicPr>
          <p:cNvPr id="7" name="Picture 6" descr="GitHub - nextflow-io/nextflow: A DSL for data-driven computational  pipelines · GitHub">
            <a:extLst>
              <a:ext uri="{FF2B5EF4-FFF2-40B4-BE49-F238E27FC236}">
                <a16:creationId xmlns:a16="http://schemas.microsoft.com/office/drawing/2014/main" id="{DA94C7D1-5142-F524-0DC3-F8532D5DE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341" y="-938043"/>
            <a:ext cx="6570132" cy="657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50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9672-E7F5-1723-B190-A3D07B73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B3222-58DD-375B-1D58-C6FD304D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Day 1: Foundations; creating a pipeline</a:t>
            </a:r>
          </a:p>
          <a:p>
            <a:r>
              <a:rPr lang="en-US" sz="2400" dirty="0"/>
              <a:t>Processes</a:t>
            </a:r>
          </a:p>
          <a:p>
            <a:r>
              <a:rPr lang="en-US" sz="2400" dirty="0"/>
              <a:t>Channels</a:t>
            </a:r>
          </a:p>
          <a:p>
            <a:r>
              <a:rPr lang="en-US" sz="2400" dirty="0"/>
              <a:t>Workflows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b="1" u="sng" dirty="0"/>
              <a:t>Day 2: From pipeline to production</a:t>
            </a:r>
          </a:p>
          <a:p>
            <a:r>
              <a:rPr lang="en-US" sz="2400" dirty="0"/>
              <a:t>Parametrizing – </a:t>
            </a:r>
            <a:r>
              <a:rPr lang="en-US" sz="2400" dirty="0" err="1"/>
              <a:t>nextflow.config</a:t>
            </a:r>
            <a:endParaRPr lang="en-US" sz="2400" dirty="0"/>
          </a:p>
          <a:p>
            <a:r>
              <a:rPr lang="en-US" sz="2400" dirty="0"/>
              <a:t>Compartmentalizing – modules</a:t>
            </a:r>
          </a:p>
          <a:p>
            <a:r>
              <a:rPr lang="en-US" sz="2400" dirty="0"/>
              <a:t>Making it portable – containers</a:t>
            </a:r>
          </a:p>
          <a:p>
            <a:r>
              <a:rPr lang="en-US" sz="2400" dirty="0"/>
              <a:t>Making it scalable – HPC (SLURM)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480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6CF97-2D22-8E1E-3F34-B27E93D76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EF45-3CB5-FC67-9990-ADE3E6E8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2894A-4E57-70B8-6548-52FDF58AC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share =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/>
              <a:t>We will use small data files for day1 (</a:t>
            </a:r>
            <a:r>
              <a:rPr lang="en-US" dirty="0" err="1"/>
              <a:t>github</a:t>
            </a:r>
            <a:r>
              <a:rPr lang="en-US" dirty="0"/>
              <a:t>) </a:t>
            </a:r>
          </a:p>
          <a:p>
            <a:r>
              <a:rPr lang="en-US" dirty="0"/>
              <a:t>We will use big data files for day2 (hazel) – globus?</a:t>
            </a:r>
          </a:p>
          <a:p>
            <a:r>
              <a:rPr lang="en-US" dirty="0"/>
              <a:t>No internet in compute nodes except xfer (</a:t>
            </a:r>
            <a:r>
              <a:rPr lang="en-US" dirty="0">
                <a:hlinkClick r:id="rId2"/>
              </a:rPr>
              <a:t>https://hurwitzlab.github.io/COS_Compute_Handbook/chapters/10_downloading_data.html</a:t>
            </a:r>
            <a:r>
              <a:rPr lang="en-US" dirty="0"/>
              <a:t>) </a:t>
            </a:r>
          </a:p>
          <a:p>
            <a:r>
              <a:rPr lang="en-US" dirty="0"/>
              <a:t>BRC modules are wrapped container images</a:t>
            </a:r>
          </a:p>
          <a:p>
            <a:r>
              <a:rPr lang="en-US" dirty="0"/>
              <a:t>Jobs my take a while to run, we normally don’t need to wait, it is more important to understand what we are doing and why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202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D8B8A-6420-D4CC-D98C-6A20CE2F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D3CE-7C37-BFFF-26DF-8F907F2E6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951" y="2337974"/>
            <a:ext cx="10515600" cy="1325563"/>
          </a:xfrm>
        </p:spPr>
        <p:txBody>
          <a:bodyPr/>
          <a:lstStyle/>
          <a:p>
            <a:r>
              <a:rPr lang="en-US" dirty="0"/>
              <a:t>Access to SLURM based HPC?</a:t>
            </a:r>
          </a:p>
        </p:txBody>
      </p:sp>
    </p:spTree>
    <p:extLst>
      <p:ext uri="{BB962C8B-B14F-4D97-AF65-F5344CB8AC3E}">
        <p14:creationId xmlns:p14="http://schemas.microsoft.com/office/powerpoint/2010/main" val="118056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03F79-2F95-3158-DFA6-6DFB9F782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pipeline managers?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2870D-4349-23A3-7C10-D6CE70E428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58" r="41550"/>
          <a:stretch>
            <a:fillRect/>
          </a:stretch>
        </p:blipFill>
        <p:spPr>
          <a:xfrm>
            <a:off x="4807901" y="2300556"/>
            <a:ext cx="3407979" cy="4453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117815-654B-293F-0DA7-11FD452848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43" r="41253"/>
          <a:stretch>
            <a:fillRect/>
          </a:stretch>
        </p:blipFill>
        <p:spPr>
          <a:xfrm>
            <a:off x="8429146" y="611276"/>
            <a:ext cx="3762854" cy="61428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7B636B-C0AF-74A9-D69D-19C76FE9D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248" y="3326601"/>
            <a:ext cx="3993425" cy="338490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F1C2ACF-5C8F-3245-3F17-9597FFEFCA31}"/>
              </a:ext>
            </a:extLst>
          </p:cNvPr>
          <p:cNvSpPr/>
          <p:nvPr/>
        </p:nvSpPr>
        <p:spPr>
          <a:xfrm>
            <a:off x="950319" y="3427027"/>
            <a:ext cx="872837" cy="2909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A9197D6-011F-057E-2545-669A6EFA93BC}"/>
              </a:ext>
            </a:extLst>
          </p:cNvPr>
          <p:cNvSpPr/>
          <p:nvPr/>
        </p:nvSpPr>
        <p:spPr>
          <a:xfrm>
            <a:off x="5192990" y="2415645"/>
            <a:ext cx="872837" cy="2909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47EEB1-E05E-2796-7C8B-E0735470E922}"/>
              </a:ext>
            </a:extLst>
          </p:cNvPr>
          <p:cNvSpPr/>
          <p:nvPr/>
        </p:nvSpPr>
        <p:spPr>
          <a:xfrm>
            <a:off x="8743003" y="734291"/>
            <a:ext cx="872837" cy="2909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D376DB-592C-2C99-8442-537614AB44C3}"/>
              </a:ext>
            </a:extLst>
          </p:cNvPr>
          <p:cNvSpPr/>
          <p:nvPr/>
        </p:nvSpPr>
        <p:spPr>
          <a:xfrm>
            <a:off x="799899" y="4426614"/>
            <a:ext cx="872837" cy="2909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67DFA12-5111-4D35-768F-5B88535589B2}"/>
              </a:ext>
            </a:extLst>
          </p:cNvPr>
          <p:cNvSpPr/>
          <p:nvPr/>
        </p:nvSpPr>
        <p:spPr>
          <a:xfrm>
            <a:off x="5102190" y="3948632"/>
            <a:ext cx="1636572" cy="2909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7E165B-935C-A792-8D1A-6A4844CB5C35}"/>
              </a:ext>
            </a:extLst>
          </p:cNvPr>
          <p:cNvSpPr/>
          <p:nvPr/>
        </p:nvSpPr>
        <p:spPr>
          <a:xfrm>
            <a:off x="8674001" y="3760600"/>
            <a:ext cx="1636572" cy="2909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7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92DE2-F5EE-A8DC-8013-71399FC5A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837CE-B9A8-081E-B030-A1B26AB7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pipeline managers?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9864BF-15EE-EE46-47A5-B636525E77CF}"/>
              </a:ext>
            </a:extLst>
          </p:cNvPr>
          <p:cNvSpPr txBox="1"/>
          <p:nvPr/>
        </p:nvSpPr>
        <p:spPr>
          <a:xfrm>
            <a:off x="1101437" y="1795005"/>
            <a:ext cx="105924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 order to 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minimize the number of manual steps 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that are required to execute an analysis workflow, computational pipelines automatically chain together multiple tools. 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D2CD7-CC3F-89A6-18D7-1872512111FC}"/>
              </a:ext>
            </a:extLst>
          </p:cNvPr>
          <p:cNvSpPr/>
          <p:nvPr/>
        </p:nvSpPr>
        <p:spPr>
          <a:xfrm>
            <a:off x="1101437" y="2959082"/>
            <a:ext cx="2238498" cy="1030035"/>
          </a:xfrm>
          <a:prstGeom prst="rect">
            <a:avLst/>
          </a:prstGeom>
          <a:solidFill>
            <a:srgbClr val="05BE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Reproducibility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DFA295-1B14-B9F3-E2E1-5E4BE5039965}"/>
              </a:ext>
            </a:extLst>
          </p:cNvPr>
          <p:cNvSpPr/>
          <p:nvPr/>
        </p:nvSpPr>
        <p:spPr>
          <a:xfrm>
            <a:off x="1101437" y="4470606"/>
            <a:ext cx="2238498" cy="1030035"/>
          </a:xfrm>
          <a:prstGeom prst="rect">
            <a:avLst/>
          </a:prstGeom>
          <a:solidFill>
            <a:srgbClr val="05BE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Scalability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6F392F-E495-F8D9-5BB9-F8D6DB2D6FC6}"/>
              </a:ext>
            </a:extLst>
          </p:cNvPr>
          <p:cNvSpPr/>
          <p:nvPr/>
        </p:nvSpPr>
        <p:spPr>
          <a:xfrm>
            <a:off x="6611734" y="2959081"/>
            <a:ext cx="2238498" cy="1030035"/>
          </a:xfrm>
          <a:prstGeom prst="rect">
            <a:avLst/>
          </a:prstGeom>
          <a:solidFill>
            <a:srgbClr val="05BE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Resumability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DD6438-E0CD-D68E-B250-1A51C751835B}"/>
              </a:ext>
            </a:extLst>
          </p:cNvPr>
          <p:cNvSpPr/>
          <p:nvPr/>
        </p:nvSpPr>
        <p:spPr>
          <a:xfrm>
            <a:off x="6611734" y="4470605"/>
            <a:ext cx="2238498" cy="1030035"/>
          </a:xfrm>
          <a:prstGeom prst="rect">
            <a:avLst/>
          </a:prstGeom>
          <a:solidFill>
            <a:srgbClr val="05BE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1E6540-2F52-D6C3-4881-D8B39AE12F87}"/>
              </a:ext>
            </a:extLst>
          </p:cNvPr>
          <p:cNvSpPr/>
          <p:nvPr/>
        </p:nvSpPr>
        <p:spPr>
          <a:xfrm>
            <a:off x="3339935" y="2959081"/>
            <a:ext cx="2238498" cy="1030035"/>
          </a:xfrm>
          <a:prstGeom prst="rect">
            <a:avLst/>
          </a:prstGeom>
          <a:solidFill>
            <a:srgbClr val="05BE99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Same inputs, same software, same results, every time you run it.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355D74-D31A-1690-F0DD-C89FCF54AFCB}"/>
              </a:ext>
            </a:extLst>
          </p:cNvPr>
          <p:cNvSpPr/>
          <p:nvPr/>
        </p:nvSpPr>
        <p:spPr>
          <a:xfrm>
            <a:off x="8850232" y="2959080"/>
            <a:ext cx="2238498" cy="1030035"/>
          </a:xfrm>
          <a:prstGeom prst="rect">
            <a:avLst/>
          </a:prstGeom>
          <a:solidFill>
            <a:srgbClr val="05BE99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If a step fails, fix it and pick up where you left off.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AD6DB5-F634-5CF4-7AD0-6BB82479DB7A}"/>
              </a:ext>
            </a:extLst>
          </p:cNvPr>
          <p:cNvSpPr/>
          <p:nvPr/>
        </p:nvSpPr>
        <p:spPr>
          <a:xfrm>
            <a:off x="3339935" y="4470606"/>
            <a:ext cx="2238498" cy="1030035"/>
          </a:xfrm>
          <a:prstGeom prst="rect">
            <a:avLst/>
          </a:prstGeom>
          <a:solidFill>
            <a:srgbClr val="05BE99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One sample or one thousand: the pipeline code doesn't change.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940946-C49C-D981-4AF4-3FD0D3A9545A}"/>
              </a:ext>
            </a:extLst>
          </p:cNvPr>
          <p:cNvSpPr/>
          <p:nvPr/>
        </p:nvSpPr>
        <p:spPr>
          <a:xfrm>
            <a:off x="8850232" y="4470604"/>
            <a:ext cx="2238498" cy="1030035"/>
          </a:xfrm>
          <a:prstGeom prst="rect">
            <a:avLst/>
          </a:prstGeom>
          <a:solidFill>
            <a:srgbClr val="05BE99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Run on a laptop, HPC, or cloud by changing config, not code.</a:t>
            </a:r>
          </a:p>
        </p:txBody>
      </p:sp>
    </p:spTree>
    <p:extLst>
      <p:ext uri="{BB962C8B-B14F-4D97-AF65-F5344CB8AC3E}">
        <p14:creationId xmlns:p14="http://schemas.microsoft.com/office/powerpoint/2010/main" val="3424635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70CD-3286-17E1-7A45-EC134E8F1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Nextflow</a:t>
            </a:r>
            <a:r>
              <a:rPr lang="en-US" dirty="0"/>
              <a:t>?</a:t>
            </a:r>
          </a:p>
        </p:txBody>
      </p:sp>
      <p:pic>
        <p:nvPicPr>
          <p:cNvPr id="3" name="Picture 2" descr="nf-core">
            <a:extLst>
              <a:ext uri="{FF2B5EF4-FFF2-40B4-BE49-F238E27FC236}">
                <a16:creationId xmlns:a16="http://schemas.microsoft.com/office/drawing/2014/main" id="{0BAEB4E7-8909-C38C-3502-1B49BBA61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334" y="3482772"/>
            <a:ext cx="2515114" cy="14147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FEDD9A-01F9-3CD3-5748-F745EF9B203B}"/>
              </a:ext>
            </a:extLst>
          </p:cNvPr>
          <p:cNvSpPr txBox="1"/>
          <p:nvPr/>
        </p:nvSpPr>
        <p:spPr>
          <a:xfrm>
            <a:off x="876013" y="1437961"/>
            <a:ext cx="84771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workflow language built for data-intensive bioinformatics on any infrastructure.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 the tools you already know.</a:t>
            </a:r>
            <a:r>
              <a:rPr lang="en-US" dirty="0"/>
              <a:t> Each step is a bash script, or Python, R, Perl. </a:t>
            </a:r>
            <a:r>
              <a:rPr lang="en-US" dirty="0" err="1"/>
              <a:t>Nextflow</a:t>
            </a:r>
            <a:r>
              <a:rPr lang="en-US" dirty="0"/>
              <a:t> wraps your commands; it doesn't replace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flows, work runs in parallel.</a:t>
            </a:r>
            <a:r>
              <a:rPr lang="en-US" dirty="0"/>
              <a:t> Channels pass files between steps, and each sample runs as soon as its inputs are ready.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Built-in HPC and cloud support.</a:t>
            </a:r>
            <a:r>
              <a:rPr lang="en-US" dirty="0"/>
              <a:t> SLURM, AWS, Google Cloud, Kubernetes: swap executors in config.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First-class containers.</a:t>
            </a:r>
            <a:r>
              <a:rPr lang="en-US" dirty="0"/>
              <a:t> Docker, </a:t>
            </a:r>
            <a:r>
              <a:rPr lang="en-US" dirty="0" err="1"/>
              <a:t>Apptainer</a:t>
            </a:r>
            <a:r>
              <a:rPr lang="en-US" dirty="0"/>
              <a:t>, and Conda are supported per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 large community.</a:t>
            </a:r>
            <a:r>
              <a:rPr lang="en-US" dirty="0"/>
              <a:t> </a:t>
            </a:r>
            <a:r>
              <a:rPr lang="en-US" dirty="0" err="1"/>
              <a:t>nf</a:t>
            </a:r>
            <a:r>
              <a:rPr lang="en-US" dirty="0"/>
              <a:t>-core offers 100+ peer-reviewed pipelines and 1,000+ reusable modules.</a:t>
            </a:r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15A72C4-488A-3743-7574-E03B14A16CD0}"/>
              </a:ext>
            </a:extLst>
          </p:cNvPr>
          <p:cNvGrpSpPr/>
          <p:nvPr/>
        </p:nvGrpSpPr>
        <p:grpSpPr>
          <a:xfrm>
            <a:off x="3005925" y="4897524"/>
            <a:ext cx="6122602" cy="1244472"/>
            <a:chOff x="2928829" y="5005106"/>
            <a:chExt cx="6122602" cy="1244472"/>
          </a:xfrm>
        </p:grpSpPr>
        <p:pic>
          <p:nvPicPr>
            <p:cNvPr id="5" name="Picture 4" descr="GitHub - nextflow-io/nextflow: A DSL for data-driven computational  pipelines · GitHub">
              <a:extLst>
                <a:ext uri="{FF2B5EF4-FFF2-40B4-BE49-F238E27FC236}">
                  <a16:creationId xmlns:a16="http://schemas.microsoft.com/office/drawing/2014/main" id="{BA2AA113-0B2D-413D-F5D3-6133DDFD2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62488" y="5005106"/>
              <a:ext cx="2488943" cy="1244472"/>
            </a:xfrm>
            <a:prstGeom prst="rect">
              <a:avLst/>
            </a:prstGeom>
          </p:spPr>
        </p:pic>
        <p:pic>
          <p:nvPicPr>
            <p:cNvPr id="7" name="Picture 6" descr="File:Snakemake logo dark.png - Wikimedia Commons">
              <a:extLst>
                <a:ext uri="{FF2B5EF4-FFF2-40B4-BE49-F238E27FC236}">
                  <a16:creationId xmlns:a16="http://schemas.microsoft.com/office/drawing/2014/main" id="{1D1C2F67-198F-79CA-B577-41B9F278B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28829" y="5327756"/>
              <a:ext cx="2434675" cy="5991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768EB8-D1BC-290B-73CD-0EBCFF0C21B7}"/>
                </a:ext>
              </a:extLst>
            </p:cNvPr>
            <p:cNvSpPr txBox="1"/>
            <p:nvPr/>
          </p:nvSpPr>
          <p:spPr>
            <a:xfrm>
              <a:off x="5772056" y="5420039"/>
              <a:ext cx="435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vs.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F84B75-FE4F-33F5-A999-56A2A17CC272}"/>
              </a:ext>
            </a:extLst>
          </p:cNvPr>
          <p:cNvSpPr txBox="1"/>
          <p:nvPr/>
        </p:nvSpPr>
        <p:spPr>
          <a:xfrm>
            <a:off x="1237533" y="5967695"/>
            <a:ext cx="9962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Snakemake</a:t>
            </a:r>
            <a:r>
              <a:rPr lang="en-US" dirty="0"/>
              <a:t> is </a:t>
            </a:r>
            <a:r>
              <a:rPr lang="en-US" b="1" dirty="0"/>
              <a:t>file-driven</a:t>
            </a:r>
            <a:r>
              <a:rPr lang="en-US" dirty="0"/>
              <a:t>, working backward from the outputs you want. </a:t>
            </a:r>
            <a:r>
              <a:rPr lang="en-US" dirty="0" err="1"/>
              <a:t>Nextflow</a:t>
            </a:r>
            <a:r>
              <a:rPr lang="en-US" dirty="0"/>
              <a:t> is </a:t>
            </a:r>
            <a:r>
              <a:rPr lang="en-US" b="1" dirty="0"/>
              <a:t>dataflow-driven</a:t>
            </a:r>
            <a:r>
              <a:rPr lang="en-US" dirty="0"/>
              <a:t>, pushing inputs forward through channels. </a:t>
            </a:r>
          </a:p>
        </p:txBody>
      </p:sp>
    </p:spTree>
    <p:extLst>
      <p:ext uri="{BB962C8B-B14F-4D97-AF65-F5344CB8AC3E}">
        <p14:creationId xmlns:p14="http://schemas.microsoft.com/office/powerpoint/2010/main" val="105328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CC2B0-950A-A123-55DF-07264846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C9542C-7772-27E3-E106-3EAB36F5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Today’s pipeline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E912C6-A6BC-4D81-0DC5-DC4E395878FB}"/>
              </a:ext>
            </a:extLst>
          </p:cNvPr>
          <p:cNvSpPr/>
          <p:nvPr/>
        </p:nvSpPr>
        <p:spPr>
          <a:xfrm>
            <a:off x="662871" y="2841171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Raw reads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A7D47F-61F1-8D52-F3C4-3CA505313892}"/>
              </a:ext>
            </a:extLst>
          </p:cNvPr>
          <p:cNvSpPr/>
          <p:nvPr/>
        </p:nvSpPr>
        <p:spPr>
          <a:xfrm>
            <a:off x="3410639" y="2323437"/>
            <a:ext cx="1413164" cy="5878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FastQC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98C0B-8AB4-64D5-61F6-FD1BB9E12301}"/>
              </a:ext>
            </a:extLst>
          </p:cNvPr>
          <p:cNvSpPr/>
          <p:nvPr/>
        </p:nvSpPr>
        <p:spPr>
          <a:xfrm>
            <a:off x="3410639" y="3411186"/>
            <a:ext cx="1506186" cy="5878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Trimmomatic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97260F-4464-776B-281A-B6BB57E58C4C}"/>
              </a:ext>
            </a:extLst>
          </p:cNvPr>
          <p:cNvSpPr/>
          <p:nvPr/>
        </p:nvSpPr>
        <p:spPr>
          <a:xfrm>
            <a:off x="8074780" y="3008199"/>
            <a:ext cx="1413164" cy="5878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FastQC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D3E569-A78D-7B1B-55D5-D2722AB80E8D}"/>
              </a:ext>
            </a:extLst>
          </p:cNvPr>
          <p:cNvSpPr/>
          <p:nvPr/>
        </p:nvSpPr>
        <p:spPr>
          <a:xfrm>
            <a:off x="5703074" y="2323437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60B263-1364-C880-C61E-2B1CD9B040D1}"/>
              </a:ext>
            </a:extLst>
          </p:cNvPr>
          <p:cNvSpPr/>
          <p:nvPr/>
        </p:nvSpPr>
        <p:spPr>
          <a:xfrm>
            <a:off x="10208988" y="2989849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0186B-A542-F2CE-27B6-4DE80484CE9F}"/>
              </a:ext>
            </a:extLst>
          </p:cNvPr>
          <p:cNvSpPr/>
          <p:nvPr/>
        </p:nvSpPr>
        <p:spPr>
          <a:xfrm>
            <a:off x="5730667" y="3403531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Clean reads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373973-C1C6-F38C-6D21-D1089F6D3AC6}"/>
              </a:ext>
            </a:extLst>
          </p:cNvPr>
          <p:cNvCxnSpPr>
            <a:cxnSpLocks/>
          </p:cNvCxnSpPr>
          <p:nvPr/>
        </p:nvCxnSpPr>
        <p:spPr>
          <a:xfrm flipV="1">
            <a:off x="2174566" y="2642260"/>
            <a:ext cx="964708" cy="44261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6F998E-2E10-F9A6-F8D8-C3C5B981127A}"/>
              </a:ext>
            </a:extLst>
          </p:cNvPr>
          <p:cNvCxnSpPr>
            <a:cxnSpLocks/>
          </p:cNvCxnSpPr>
          <p:nvPr/>
        </p:nvCxnSpPr>
        <p:spPr>
          <a:xfrm>
            <a:off x="2174566" y="3160087"/>
            <a:ext cx="918956" cy="4797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EDF1700-0AD7-32E9-C46D-3576DAF27BF8}"/>
              </a:ext>
            </a:extLst>
          </p:cNvPr>
          <p:cNvSpPr/>
          <p:nvPr/>
        </p:nvSpPr>
        <p:spPr>
          <a:xfrm>
            <a:off x="8074780" y="3850272"/>
            <a:ext cx="1413164" cy="80261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 with MEGAHIT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66D293-4A4C-10AE-465B-1C03EAF26642}"/>
              </a:ext>
            </a:extLst>
          </p:cNvPr>
          <p:cNvSpPr/>
          <p:nvPr/>
        </p:nvSpPr>
        <p:spPr>
          <a:xfrm>
            <a:off x="8074780" y="4913539"/>
            <a:ext cx="1413164" cy="58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Kraken2 annotation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CB62E0-7A4B-911A-64E2-1FA61E225D3A}"/>
              </a:ext>
            </a:extLst>
          </p:cNvPr>
          <p:cNvCxnSpPr>
            <a:cxnSpLocks/>
          </p:cNvCxnSpPr>
          <p:nvPr/>
        </p:nvCxnSpPr>
        <p:spPr>
          <a:xfrm>
            <a:off x="5010789" y="2617351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1B1040-2508-0B72-DE10-2F519BC26D97}"/>
              </a:ext>
            </a:extLst>
          </p:cNvPr>
          <p:cNvCxnSpPr>
            <a:cxnSpLocks/>
          </p:cNvCxnSpPr>
          <p:nvPr/>
        </p:nvCxnSpPr>
        <p:spPr>
          <a:xfrm>
            <a:off x="5070856" y="3639787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D9BC66-9479-BF15-4E79-E44A8B91823B}"/>
              </a:ext>
            </a:extLst>
          </p:cNvPr>
          <p:cNvCxnSpPr>
            <a:cxnSpLocks/>
          </p:cNvCxnSpPr>
          <p:nvPr/>
        </p:nvCxnSpPr>
        <p:spPr>
          <a:xfrm flipV="1">
            <a:off x="7247999" y="3302113"/>
            <a:ext cx="625341" cy="33767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9A2500-D9DB-4407-D2F1-C09BBB6B1580}"/>
              </a:ext>
            </a:extLst>
          </p:cNvPr>
          <p:cNvCxnSpPr>
            <a:cxnSpLocks/>
          </p:cNvCxnSpPr>
          <p:nvPr/>
        </p:nvCxnSpPr>
        <p:spPr>
          <a:xfrm>
            <a:off x="7296635" y="3760735"/>
            <a:ext cx="576705" cy="43719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C73723-363B-8B86-5EDB-C90B85833047}"/>
              </a:ext>
            </a:extLst>
          </p:cNvPr>
          <p:cNvCxnSpPr>
            <a:cxnSpLocks/>
          </p:cNvCxnSpPr>
          <p:nvPr/>
        </p:nvCxnSpPr>
        <p:spPr>
          <a:xfrm>
            <a:off x="7275177" y="3850272"/>
            <a:ext cx="702331" cy="131549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1FE3AF-4F86-2D20-4B6C-A4EB234A7FF4}"/>
              </a:ext>
            </a:extLst>
          </p:cNvPr>
          <p:cNvCxnSpPr>
            <a:cxnSpLocks/>
          </p:cNvCxnSpPr>
          <p:nvPr/>
        </p:nvCxnSpPr>
        <p:spPr>
          <a:xfrm>
            <a:off x="9592686" y="3280322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Our Top 5 Quality Control (QC) Metrics Every NGS User Should Know">
            <a:extLst>
              <a:ext uri="{FF2B5EF4-FFF2-40B4-BE49-F238E27FC236}">
                <a16:creationId xmlns:a16="http://schemas.microsoft.com/office/drawing/2014/main" id="{41A3B43E-5BC1-54D0-642F-B1C6595B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0" y="4508019"/>
            <a:ext cx="4481232" cy="221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0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E9E7D-34D7-E69A-60E0-2A1A2E83A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7E257-5254-58A5-D134-275D22AB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components: </a:t>
            </a:r>
            <a:r>
              <a:rPr lang="en-US" b="1" dirty="0"/>
              <a:t>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895E0-3F1B-B147-6FFB-19BA5C8C1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Processes</a:t>
            </a:r>
            <a:r>
              <a:rPr lang="en-US" dirty="0"/>
              <a:t> are the basic computing units in </a:t>
            </a:r>
            <a:r>
              <a:rPr lang="en-US" dirty="0" err="1"/>
              <a:t>Nextflow</a:t>
            </a:r>
            <a:r>
              <a:rPr lang="en-US" dirty="0"/>
              <a:t>. Each process defines:</a:t>
            </a:r>
          </a:p>
          <a:p>
            <a:r>
              <a:rPr lang="en-US" b="1" dirty="0"/>
              <a:t>Inputs and outputs</a:t>
            </a:r>
            <a:r>
              <a:rPr lang="en-US" dirty="0"/>
              <a:t>: Data consumed and produced</a:t>
            </a:r>
          </a:p>
          <a:p>
            <a:r>
              <a:rPr lang="en-US" b="1" dirty="0"/>
              <a:t>Script</a:t>
            </a:r>
            <a:r>
              <a:rPr lang="en-US" dirty="0"/>
              <a:t>: The actual command or code to execute</a:t>
            </a:r>
          </a:p>
          <a:p>
            <a:r>
              <a:rPr lang="en-US" b="1" dirty="0"/>
              <a:t>Directives</a:t>
            </a:r>
            <a:r>
              <a:rPr lang="en-US" dirty="0"/>
              <a:t>: Resource requirements (CPU, memory, time)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Think of a process as a single step in your pipeline, like "align reads" or ”run inference tool”. Processes are isolated (</a:t>
            </a:r>
            <a:r>
              <a:rPr lang="en-US" b="1" dirty="0">
                <a:solidFill>
                  <a:schemeClr val="accent2"/>
                </a:solidFill>
              </a:rPr>
              <a:t>modules</a:t>
            </a:r>
            <a:r>
              <a:rPr lang="en-US" dirty="0"/>
              <a:t>)and can be executed independently, enabling parallelization. </a:t>
            </a:r>
          </a:p>
        </p:txBody>
      </p:sp>
      <p:pic>
        <p:nvPicPr>
          <p:cNvPr id="4098" name="Picture 2" descr="Manufacturing Factory Tool Icons - Free SVG &amp; PNG Manufacturing Factory Tool  Images - Noun Project">
            <a:extLst>
              <a:ext uri="{FF2B5EF4-FFF2-40B4-BE49-F238E27FC236}">
                <a16:creationId xmlns:a16="http://schemas.microsoft.com/office/drawing/2014/main" id="{CF13FCC3-795D-264A-652A-5CE31D964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461" y="585043"/>
            <a:ext cx="834020" cy="834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298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D97CB-B8A2-C139-67D1-19D621A2F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336D5C8-7018-6AAC-AA60-DC2E2C108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Processes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EBEBF9-FD16-4830-389A-C0EE85FF218B}"/>
              </a:ext>
            </a:extLst>
          </p:cNvPr>
          <p:cNvSpPr/>
          <p:nvPr/>
        </p:nvSpPr>
        <p:spPr>
          <a:xfrm>
            <a:off x="662871" y="2841171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Raw reads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32FA45-5CE0-546E-8507-1E41FF311C28}"/>
              </a:ext>
            </a:extLst>
          </p:cNvPr>
          <p:cNvSpPr/>
          <p:nvPr/>
        </p:nvSpPr>
        <p:spPr>
          <a:xfrm>
            <a:off x="3410639" y="2323437"/>
            <a:ext cx="1413164" cy="5878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FastQC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3C6B10-0A5B-D19F-2051-E7A46BA24C95}"/>
              </a:ext>
            </a:extLst>
          </p:cNvPr>
          <p:cNvSpPr/>
          <p:nvPr/>
        </p:nvSpPr>
        <p:spPr>
          <a:xfrm>
            <a:off x="3410639" y="3411186"/>
            <a:ext cx="1506186" cy="5878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Trimmomatic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4239F9-1627-FE39-63B3-2B78B5B17BA1}"/>
              </a:ext>
            </a:extLst>
          </p:cNvPr>
          <p:cNvSpPr/>
          <p:nvPr/>
        </p:nvSpPr>
        <p:spPr>
          <a:xfrm>
            <a:off x="8074780" y="3008199"/>
            <a:ext cx="1413164" cy="5878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FastQC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C7A4E-08D3-7E28-8122-BCE11DC926B3}"/>
              </a:ext>
            </a:extLst>
          </p:cNvPr>
          <p:cNvSpPr/>
          <p:nvPr/>
        </p:nvSpPr>
        <p:spPr>
          <a:xfrm>
            <a:off x="5703074" y="2323437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3B5712-BA3C-192F-AD9B-BF8DB8DBC49A}"/>
              </a:ext>
            </a:extLst>
          </p:cNvPr>
          <p:cNvSpPr/>
          <p:nvPr/>
        </p:nvSpPr>
        <p:spPr>
          <a:xfrm>
            <a:off x="10208988" y="2989849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213401-9B8D-ADDA-CBFA-8FE8F9047E78}"/>
              </a:ext>
            </a:extLst>
          </p:cNvPr>
          <p:cNvSpPr/>
          <p:nvPr/>
        </p:nvSpPr>
        <p:spPr>
          <a:xfrm>
            <a:off x="5730667" y="3403531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Clean reads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1783CE-1317-F7ED-B505-1B8527F88840}"/>
              </a:ext>
            </a:extLst>
          </p:cNvPr>
          <p:cNvCxnSpPr>
            <a:cxnSpLocks/>
          </p:cNvCxnSpPr>
          <p:nvPr/>
        </p:nvCxnSpPr>
        <p:spPr>
          <a:xfrm flipV="1">
            <a:off x="2174566" y="2642260"/>
            <a:ext cx="964708" cy="44261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695FAF-8D51-0A43-5988-FE4DD948F635}"/>
              </a:ext>
            </a:extLst>
          </p:cNvPr>
          <p:cNvCxnSpPr>
            <a:cxnSpLocks/>
          </p:cNvCxnSpPr>
          <p:nvPr/>
        </p:nvCxnSpPr>
        <p:spPr>
          <a:xfrm>
            <a:off x="2174566" y="3160087"/>
            <a:ext cx="918956" cy="4797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F318C63-FBF8-1C16-0D1E-69F765233998}"/>
              </a:ext>
            </a:extLst>
          </p:cNvPr>
          <p:cNvSpPr/>
          <p:nvPr/>
        </p:nvSpPr>
        <p:spPr>
          <a:xfrm>
            <a:off x="8074780" y="3850272"/>
            <a:ext cx="1413164" cy="80261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 with MEGAHIT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1F81AC-7470-E110-D9DC-5BCBCE4B54D6}"/>
              </a:ext>
            </a:extLst>
          </p:cNvPr>
          <p:cNvSpPr/>
          <p:nvPr/>
        </p:nvSpPr>
        <p:spPr>
          <a:xfrm>
            <a:off x="8074780" y="4913539"/>
            <a:ext cx="1413164" cy="58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Kraken2 annotation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7F1F21-D721-A862-FE46-0460393EEC26}"/>
              </a:ext>
            </a:extLst>
          </p:cNvPr>
          <p:cNvCxnSpPr>
            <a:cxnSpLocks/>
          </p:cNvCxnSpPr>
          <p:nvPr/>
        </p:nvCxnSpPr>
        <p:spPr>
          <a:xfrm>
            <a:off x="5010789" y="2617351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4EE73E-41EF-32E5-71EA-B3707C3BABFF}"/>
              </a:ext>
            </a:extLst>
          </p:cNvPr>
          <p:cNvCxnSpPr>
            <a:cxnSpLocks/>
          </p:cNvCxnSpPr>
          <p:nvPr/>
        </p:nvCxnSpPr>
        <p:spPr>
          <a:xfrm>
            <a:off x="5070856" y="3639787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10864F-799A-B103-2368-6064039DA5C0}"/>
              </a:ext>
            </a:extLst>
          </p:cNvPr>
          <p:cNvCxnSpPr>
            <a:cxnSpLocks/>
          </p:cNvCxnSpPr>
          <p:nvPr/>
        </p:nvCxnSpPr>
        <p:spPr>
          <a:xfrm flipV="1">
            <a:off x="7247999" y="3302113"/>
            <a:ext cx="625341" cy="33767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D7B9D3-62D7-FB6F-B472-705F209A86AB}"/>
              </a:ext>
            </a:extLst>
          </p:cNvPr>
          <p:cNvCxnSpPr>
            <a:cxnSpLocks/>
          </p:cNvCxnSpPr>
          <p:nvPr/>
        </p:nvCxnSpPr>
        <p:spPr>
          <a:xfrm>
            <a:off x="7296635" y="3760735"/>
            <a:ext cx="576705" cy="43719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1E96CF-3BF5-D004-0616-BA655DA25C05}"/>
              </a:ext>
            </a:extLst>
          </p:cNvPr>
          <p:cNvCxnSpPr>
            <a:cxnSpLocks/>
          </p:cNvCxnSpPr>
          <p:nvPr/>
        </p:nvCxnSpPr>
        <p:spPr>
          <a:xfrm>
            <a:off x="7275177" y="3850272"/>
            <a:ext cx="702331" cy="131549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E7D50E7-1D26-31DE-4890-6E5529F8A095}"/>
              </a:ext>
            </a:extLst>
          </p:cNvPr>
          <p:cNvCxnSpPr>
            <a:cxnSpLocks/>
          </p:cNvCxnSpPr>
          <p:nvPr/>
        </p:nvCxnSpPr>
        <p:spPr>
          <a:xfrm>
            <a:off x="9592686" y="3280322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00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32AAA-C239-35F2-CE12-21EBCB25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8B60-9E6B-92A6-6C6B-088BD6F07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components: </a:t>
            </a:r>
            <a:r>
              <a:rPr lang="en-US" b="1" dirty="0"/>
              <a:t>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7BE7F-B5C1-C7E9-4399-A95B68CF9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Channels</a:t>
            </a:r>
            <a:r>
              <a:rPr lang="en-US" dirty="0"/>
              <a:t> are asynchronous queues that connect processes and handle data flow. They're </a:t>
            </a:r>
            <a:r>
              <a:rPr lang="en-US" dirty="0" err="1"/>
              <a:t>Nextflow's</a:t>
            </a:r>
            <a:r>
              <a:rPr lang="en-US" dirty="0"/>
              <a:t> way of passing data between processes. Key types:</a:t>
            </a:r>
          </a:p>
          <a:p>
            <a:r>
              <a:rPr lang="en-US" b="1" dirty="0"/>
              <a:t>Queue channels</a:t>
            </a:r>
            <a:r>
              <a:rPr lang="en-US" dirty="0"/>
              <a:t>: Consumed once, ideal for streaming data</a:t>
            </a:r>
          </a:p>
          <a:p>
            <a:r>
              <a:rPr lang="en-US" b="1" dirty="0"/>
              <a:t>Value channels</a:t>
            </a:r>
            <a:r>
              <a:rPr lang="en-US" dirty="0"/>
              <a:t>: Can be read multiple times, useful for reference files and databases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Channels enable parallel processing when multiple data items flow through the pipeline.</a:t>
            </a:r>
          </a:p>
        </p:txBody>
      </p:sp>
      <p:pic>
        <p:nvPicPr>
          <p:cNvPr id="2050" name="Picture 2" descr="Conveyor Belt Icon Style 7246936 Vector Art at Vecteezy">
            <a:extLst>
              <a:ext uri="{FF2B5EF4-FFF2-40B4-BE49-F238E27FC236}">
                <a16:creationId xmlns:a16="http://schemas.microsoft.com/office/drawing/2014/main" id="{1575CC90-6DA8-21E2-58ED-4F945AA8B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962" y="230188"/>
            <a:ext cx="1460500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417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A5EFD-99C1-E921-F08C-47D76A612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E14E91D-D938-80ED-EE1D-71AAD9F44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Channels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8FDC0B-339B-AD2D-0F58-A88995B41BE7}"/>
              </a:ext>
            </a:extLst>
          </p:cNvPr>
          <p:cNvSpPr/>
          <p:nvPr/>
        </p:nvSpPr>
        <p:spPr>
          <a:xfrm>
            <a:off x="662871" y="2841171"/>
            <a:ext cx="1413164" cy="5878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rgbClr val="BF900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Raw reads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8853F-76CD-1E30-F08D-A11DC71CA173}"/>
              </a:ext>
            </a:extLst>
          </p:cNvPr>
          <p:cNvSpPr/>
          <p:nvPr/>
        </p:nvSpPr>
        <p:spPr>
          <a:xfrm>
            <a:off x="3410639" y="2323437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FastQC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3CF5DC-DEB6-9EF8-49FE-5B46FCCCC0FE}"/>
              </a:ext>
            </a:extLst>
          </p:cNvPr>
          <p:cNvSpPr/>
          <p:nvPr/>
        </p:nvSpPr>
        <p:spPr>
          <a:xfrm>
            <a:off x="3410639" y="3411186"/>
            <a:ext cx="1506186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Trimmomatic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65C719-070A-9148-F0BE-078722611EC0}"/>
              </a:ext>
            </a:extLst>
          </p:cNvPr>
          <p:cNvSpPr/>
          <p:nvPr/>
        </p:nvSpPr>
        <p:spPr>
          <a:xfrm>
            <a:off x="8074780" y="3008199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FastQC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C68A6C-031C-4548-16AA-58AB4BFA783B}"/>
              </a:ext>
            </a:extLst>
          </p:cNvPr>
          <p:cNvSpPr/>
          <p:nvPr/>
        </p:nvSpPr>
        <p:spPr>
          <a:xfrm>
            <a:off x="5703074" y="2323437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A2FC42-3B72-94AC-37D3-34B4A7B1118B}"/>
              </a:ext>
            </a:extLst>
          </p:cNvPr>
          <p:cNvSpPr/>
          <p:nvPr/>
        </p:nvSpPr>
        <p:spPr>
          <a:xfrm>
            <a:off x="10208988" y="2989849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8F641D-6BB5-3E16-1F4E-A7F101DEEB63}"/>
              </a:ext>
            </a:extLst>
          </p:cNvPr>
          <p:cNvSpPr/>
          <p:nvPr/>
        </p:nvSpPr>
        <p:spPr>
          <a:xfrm>
            <a:off x="5730667" y="3403531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Clean reads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5E225D-FDB9-488A-7300-3E45B8DEA129}"/>
              </a:ext>
            </a:extLst>
          </p:cNvPr>
          <p:cNvCxnSpPr>
            <a:cxnSpLocks/>
          </p:cNvCxnSpPr>
          <p:nvPr/>
        </p:nvCxnSpPr>
        <p:spPr>
          <a:xfrm flipV="1">
            <a:off x="2174566" y="2642260"/>
            <a:ext cx="964708" cy="44261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2502B5-0967-62B7-F523-645F9109E5DC}"/>
              </a:ext>
            </a:extLst>
          </p:cNvPr>
          <p:cNvCxnSpPr>
            <a:cxnSpLocks/>
          </p:cNvCxnSpPr>
          <p:nvPr/>
        </p:nvCxnSpPr>
        <p:spPr>
          <a:xfrm>
            <a:off x="2174566" y="3160087"/>
            <a:ext cx="918956" cy="4797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6CC4E19-C4F6-B8A6-7C53-3DAC79259A66}"/>
              </a:ext>
            </a:extLst>
          </p:cNvPr>
          <p:cNvSpPr/>
          <p:nvPr/>
        </p:nvSpPr>
        <p:spPr>
          <a:xfrm>
            <a:off x="8074780" y="3850272"/>
            <a:ext cx="1413164" cy="8026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 with MEGAHIT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FA3C34-A3A8-69EE-033B-B5F6BF87DCDD}"/>
              </a:ext>
            </a:extLst>
          </p:cNvPr>
          <p:cNvSpPr/>
          <p:nvPr/>
        </p:nvSpPr>
        <p:spPr>
          <a:xfrm>
            <a:off x="8074780" y="4913539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Kraken2 annotation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C0FE40-305D-74DF-49AB-5E79D2599656}"/>
              </a:ext>
            </a:extLst>
          </p:cNvPr>
          <p:cNvCxnSpPr>
            <a:cxnSpLocks/>
          </p:cNvCxnSpPr>
          <p:nvPr/>
        </p:nvCxnSpPr>
        <p:spPr>
          <a:xfrm>
            <a:off x="5010789" y="2617351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BEF8B5-7302-E652-D133-BF79E736934C}"/>
              </a:ext>
            </a:extLst>
          </p:cNvPr>
          <p:cNvCxnSpPr>
            <a:cxnSpLocks/>
          </p:cNvCxnSpPr>
          <p:nvPr/>
        </p:nvCxnSpPr>
        <p:spPr>
          <a:xfrm>
            <a:off x="5070856" y="3639787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DBB3D7B-248A-AA49-4272-3E8CC26F678F}"/>
              </a:ext>
            </a:extLst>
          </p:cNvPr>
          <p:cNvCxnSpPr>
            <a:cxnSpLocks/>
          </p:cNvCxnSpPr>
          <p:nvPr/>
        </p:nvCxnSpPr>
        <p:spPr>
          <a:xfrm flipV="1">
            <a:off x="7247999" y="3302113"/>
            <a:ext cx="625341" cy="33767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57B62A-CCFC-A084-8FA8-EC849087F0DB}"/>
              </a:ext>
            </a:extLst>
          </p:cNvPr>
          <p:cNvCxnSpPr>
            <a:cxnSpLocks/>
          </p:cNvCxnSpPr>
          <p:nvPr/>
        </p:nvCxnSpPr>
        <p:spPr>
          <a:xfrm>
            <a:off x="7296635" y="3760735"/>
            <a:ext cx="576705" cy="43719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E1E2EF-A89A-E4A5-2FA5-45A460B532EF}"/>
              </a:ext>
            </a:extLst>
          </p:cNvPr>
          <p:cNvCxnSpPr>
            <a:cxnSpLocks/>
          </p:cNvCxnSpPr>
          <p:nvPr/>
        </p:nvCxnSpPr>
        <p:spPr>
          <a:xfrm>
            <a:off x="7275177" y="3850272"/>
            <a:ext cx="702331" cy="131549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A8370A-F25F-B894-668C-5EF82B503CAE}"/>
              </a:ext>
            </a:extLst>
          </p:cNvPr>
          <p:cNvCxnSpPr>
            <a:cxnSpLocks/>
          </p:cNvCxnSpPr>
          <p:nvPr/>
        </p:nvCxnSpPr>
        <p:spPr>
          <a:xfrm>
            <a:off x="9592686" y="3280322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2EA8736-55C8-5CFE-B7F6-5ADFFA5C2651}"/>
              </a:ext>
            </a:extLst>
          </p:cNvPr>
          <p:cNvSpPr txBox="1"/>
          <p:nvPr/>
        </p:nvSpPr>
        <p:spPr>
          <a:xfrm>
            <a:off x="507056" y="4508019"/>
            <a:ext cx="6609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Reads = 1 channel</a:t>
            </a:r>
          </a:p>
          <a:p>
            <a:r>
              <a:rPr lang="en-US" dirty="0"/>
              <a:t>Channel gets created when we need to initiate or modify a data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27E8CE-D22C-9703-04E7-B46D0FDF8DEE}"/>
              </a:ext>
            </a:extLst>
          </p:cNvPr>
          <p:cNvSpPr txBox="1"/>
          <p:nvPr/>
        </p:nvSpPr>
        <p:spPr>
          <a:xfrm>
            <a:off x="298826" y="6060119"/>
            <a:ext cx="910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Channels – not only data, but also a logic behind how data is going to flow through the pipeline</a:t>
            </a:r>
          </a:p>
        </p:txBody>
      </p:sp>
    </p:spTree>
    <p:extLst>
      <p:ext uri="{BB962C8B-B14F-4D97-AF65-F5344CB8AC3E}">
        <p14:creationId xmlns:p14="http://schemas.microsoft.com/office/powerpoint/2010/main" val="4280788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EF376-15E0-A5A2-91D2-665EA13D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EB6169C-1E5D-C75E-9B84-F0B0ECD2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Channels</a:t>
            </a:r>
          </a:p>
        </p:txBody>
      </p:sp>
      <p:pic>
        <p:nvPicPr>
          <p:cNvPr id="4" name="Graphic 3" descr="Factory with solid fill">
            <a:extLst>
              <a:ext uri="{FF2B5EF4-FFF2-40B4-BE49-F238E27FC236}">
                <a16:creationId xmlns:a16="http://schemas.microsoft.com/office/drawing/2014/main" id="{14346623-6769-4723-F4B0-E9F8D1585D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0578" y="2294930"/>
            <a:ext cx="914400" cy="914400"/>
          </a:xfrm>
          <a:prstGeom prst="rect">
            <a:avLst/>
          </a:prstGeom>
        </p:spPr>
      </p:pic>
      <p:pic>
        <p:nvPicPr>
          <p:cNvPr id="20" name="Graphic 19" descr="Single gear with solid fill">
            <a:extLst>
              <a:ext uri="{FF2B5EF4-FFF2-40B4-BE49-F238E27FC236}">
                <a16:creationId xmlns:a16="http://schemas.microsoft.com/office/drawing/2014/main" id="{7D22E2EB-9060-D28D-E613-6441A8ADAF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597" y="2370367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59600AC-D062-1E0E-6F0B-C7BB41CE29C0}"/>
              </a:ext>
            </a:extLst>
          </p:cNvPr>
          <p:cNvSpPr txBox="1"/>
          <p:nvPr/>
        </p:nvSpPr>
        <p:spPr>
          <a:xfrm>
            <a:off x="2982271" y="2732278"/>
            <a:ext cx="184813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Channel Factories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2CEF65-6996-844B-11F0-8289A7E90AAF}"/>
              </a:ext>
            </a:extLst>
          </p:cNvPr>
          <p:cNvSpPr txBox="1"/>
          <p:nvPr/>
        </p:nvSpPr>
        <p:spPr>
          <a:xfrm>
            <a:off x="8256997" y="2642901"/>
            <a:ext cx="194130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Channel Operators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BDA36B-5D70-A986-1CD9-92D62E67EBAE}"/>
              </a:ext>
            </a:extLst>
          </p:cNvPr>
          <p:cNvSpPr txBox="1"/>
          <p:nvPr/>
        </p:nvSpPr>
        <p:spPr>
          <a:xfrm>
            <a:off x="2914978" y="3416537"/>
            <a:ext cx="1253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  <a:r>
              <a:rPr lang="en-US" dirty="0" err="1"/>
              <a:t>fromPath</a:t>
            </a:r>
            <a:r>
              <a:rPr lang="en-US" dirty="0"/>
              <a:t>()</a:t>
            </a:r>
            <a:endParaRPr lang="en-US" b="1" dirty="0"/>
          </a:p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239F99-CE07-8BDE-6CE4-F3CC78FE4AE5}"/>
              </a:ext>
            </a:extLst>
          </p:cNvPr>
          <p:cNvSpPr txBox="1"/>
          <p:nvPr/>
        </p:nvSpPr>
        <p:spPr>
          <a:xfrm>
            <a:off x="2914977" y="3803599"/>
            <a:ext cx="1602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  <a:r>
              <a:rPr lang="en-US" dirty="0" err="1"/>
              <a:t>fromFilePairs</a:t>
            </a:r>
            <a:r>
              <a:rPr lang="en-US" dirty="0"/>
              <a:t>()</a:t>
            </a:r>
            <a:endParaRPr lang="en-US" b="1" dirty="0"/>
          </a:p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3D291A-883F-B30D-6564-4A808739A737}"/>
              </a:ext>
            </a:extLst>
          </p:cNvPr>
          <p:cNvSpPr txBox="1"/>
          <p:nvPr/>
        </p:nvSpPr>
        <p:spPr>
          <a:xfrm>
            <a:off x="8172204" y="3321857"/>
            <a:ext cx="811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.view()</a:t>
            </a:r>
            <a:endParaRPr lang="en-US" b="1" dirty="0"/>
          </a:p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4A35EC-F58F-6CCA-A12B-F42742D112B6}"/>
              </a:ext>
            </a:extLst>
          </p:cNvPr>
          <p:cNvSpPr txBox="1"/>
          <p:nvPr/>
        </p:nvSpPr>
        <p:spPr>
          <a:xfrm>
            <a:off x="2914977" y="4198126"/>
            <a:ext cx="3779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.of(): channel containing a single value</a:t>
            </a:r>
            <a:endParaRPr lang="en-US" b="1" dirty="0"/>
          </a:p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30A880-FC42-6B14-5E54-8D3CBA7A31F6}"/>
              </a:ext>
            </a:extLst>
          </p:cNvPr>
          <p:cNvSpPr txBox="1"/>
          <p:nvPr/>
        </p:nvSpPr>
        <p:spPr>
          <a:xfrm>
            <a:off x="8183233" y="3680417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.map()</a:t>
            </a:r>
            <a:endParaRPr lang="en-US" b="1" dirty="0"/>
          </a:p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DDACB6-818F-6487-26A4-3FA1AFE8DC35}"/>
              </a:ext>
            </a:extLst>
          </p:cNvPr>
          <p:cNvSpPr txBox="1"/>
          <p:nvPr/>
        </p:nvSpPr>
        <p:spPr>
          <a:xfrm>
            <a:off x="8172204" y="4060842"/>
            <a:ext cx="997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.collect()</a:t>
            </a:r>
            <a:endParaRPr lang="en-US" b="1" dirty="0"/>
          </a:p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D5121-09A1-FAAA-15C0-352689C248D0}"/>
              </a:ext>
            </a:extLst>
          </p:cNvPr>
          <p:cNvSpPr txBox="1"/>
          <p:nvPr/>
        </p:nvSpPr>
        <p:spPr>
          <a:xfrm>
            <a:off x="8183233" y="4441267"/>
            <a:ext cx="9962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.flatten()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42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0D0A-EFC7-E604-4797-27EFE0CD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E025B-6EFB-C1F8-F10F-F49939B2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components: </a:t>
            </a:r>
            <a:r>
              <a:rPr lang="en-US" b="1" dirty="0"/>
              <a:t>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A44D-B6A5-5208-9EE8-7C55FA293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</a:rPr>
              <a:t>Workflows</a:t>
            </a:r>
            <a:r>
              <a:rPr lang="en-US" dirty="0"/>
              <a:t> orchestrate how processes connect and execute. They define:</a:t>
            </a:r>
          </a:p>
          <a:p>
            <a:r>
              <a:rPr lang="en-US" dirty="0"/>
              <a:t>The order and dependencies between processes</a:t>
            </a:r>
          </a:p>
          <a:p>
            <a:r>
              <a:rPr lang="en-US" dirty="0"/>
              <a:t>How data flows from one process to another</a:t>
            </a:r>
          </a:p>
          <a:p>
            <a:r>
              <a:rPr lang="en-US" dirty="0"/>
              <a:t>Conditional execution logic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workflow composes multiple processes into a complete data analysis pipeline.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One process’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.out </a:t>
            </a:r>
            <a:r>
              <a:rPr lang="en-US" b="1" dirty="0"/>
              <a:t>becomes the input of the next process</a:t>
            </a:r>
          </a:p>
        </p:txBody>
      </p:sp>
      <p:pic>
        <p:nvPicPr>
          <p:cNvPr id="3074" name="Picture 2" descr="Floor plan - Free buildings icons">
            <a:extLst>
              <a:ext uri="{FF2B5EF4-FFF2-40B4-BE49-F238E27FC236}">
                <a16:creationId xmlns:a16="http://schemas.microsoft.com/office/drawing/2014/main" id="{E0AFBA6D-38EF-DF3F-B32F-B09C3C546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922" y="509286"/>
            <a:ext cx="1038065" cy="1038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354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BFA8-D8EE-D295-B7B9-932391E8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3CD917-36CD-BDE4-07E4-CD074E678248}"/>
              </a:ext>
            </a:extLst>
          </p:cNvPr>
          <p:cNvSpPr/>
          <p:nvPr/>
        </p:nvSpPr>
        <p:spPr>
          <a:xfrm>
            <a:off x="362198" y="1690688"/>
            <a:ext cx="11620006" cy="3950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FE0E661-2BD3-89DF-550D-B70C60BF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Workflows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8F7C3E-6576-43D8-FD53-662984754B50}"/>
              </a:ext>
            </a:extLst>
          </p:cNvPr>
          <p:cNvSpPr/>
          <p:nvPr/>
        </p:nvSpPr>
        <p:spPr>
          <a:xfrm>
            <a:off x="662871" y="2841171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Raw reads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863F9B-DFD2-9059-766D-56E182E8CD9B}"/>
              </a:ext>
            </a:extLst>
          </p:cNvPr>
          <p:cNvSpPr/>
          <p:nvPr/>
        </p:nvSpPr>
        <p:spPr>
          <a:xfrm>
            <a:off x="3410639" y="2323437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FastQC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F92FCC-5539-EE39-36C0-3D4915A4A271}"/>
              </a:ext>
            </a:extLst>
          </p:cNvPr>
          <p:cNvSpPr/>
          <p:nvPr/>
        </p:nvSpPr>
        <p:spPr>
          <a:xfrm>
            <a:off x="3410639" y="3411186"/>
            <a:ext cx="1506186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Trimmomatic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2264C-35D5-27A0-7360-682CF1B18069}"/>
              </a:ext>
            </a:extLst>
          </p:cNvPr>
          <p:cNvSpPr/>
          <p:nvPr/>
        </p:nvSpPr>
        <p:spPr>
          <a:xfrm>
            <a:off x="8074780" y="3008199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FastQC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F51583-2806-47E0-C855-19AECB02833A}"/>
              </a:ext>
            </a:extLst>
          </p:cNvPr>
          <p:cNvSpPr/>
          <p:nvPr/>
        </p:nvSpPr>
        <p:spPr>
          <a:xfrm>
            <a:off x="5703074" y="2323437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B34B03-71F3-2D08-6514-80046D6B46F5}"/>
              </a:ext>
            </a:extLst>
          </p:cNvPr>
          <p:cNvSpPr/>
          <p:nvPr/>
        </p:nvSpPr>
        <p:spPr>
          <a:xfrm>
            <a:off x="10208988" y="2989849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810173-B7A8-9298-CB7A-D0A23F84F23D}"/>
              </a:ext>
            </a:extLst>
          </p:cNvPr>
          <p:cNvSpPr/>
          <p:nvPr/>
        </p:nvSpPr>
        <p:spPr>
          <a:xfrm>
            <a:off x="5730667" y="3403531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Clean reads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8113130-5894-14BA-AB16-7D4BA762DD79}"/>
              </a:ext>
            </a:extLst>
          </p:cNvPr>
          <p:cNvCxnSpPr>
            <a:cxnSpLocks/>
          </p:cNvCxnSpPr>
          <p:nvPr/>
        </p:nvCxnSpPr>
        <p:spPr>
          <a:xfrm flipV="1">
            <a:off x="2174566" y="2642260"/>
            <a:ext cx="964708" cy="44261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77FFAD-C41C-F7D1-F646-80F62094FDEF}"/>
              </a:ext>
            </a:extLst>
          </p:cNvPr>
          <p:cNvCxnSpPr>
            <a:cxnSpLocks/>
          </p:cNvCxnSpPr>
          <p:nvPr/>
        </p:nvCxnSpPr>
        <p:spPr>
          <a:xfrm>
            <a:off x="2174566" y="3160087"/>
            <a:ext cx="918956" cy="4797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0C9DF26-70B7-EDEC-AD8D-B5E186852E06}"/>
              </a:ext>
            </a:extLst>
          </p:cNvPr>
          <p:cNvSpPr/>
          <p:nvPr/>
        </p:nvSpPr>
        <p:spPr>
          <a:xfrm>
            <a:off x="8074780" y="3850272"/>
            <a:ext cx="1413164" cy="8026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 with MEGAHIT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BAC161-2684-6302-00DB-84EA79101E6D}"/>
              </a:ext>
            </a:extLst>
          </p:cNvPr>
          <p:cNvSpPr/>
          <p:nvPr/>
        </p:nvSpPr>
        <p:spPr>
          <a:xfrm>
            <a:off x="8074780" y="4913539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Kraken2 annotation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840E314-CF85-2025-F0FF-C2AEB9E5A192}"/>
              </a:ext>
            </a:extLst>
          </p:cNvPr>
          <p:cNvCxnSpPr>
            <a:cxnSpLocks/>
          </p:cNvCxnSpPr>
          <p:nvPr/>
        </p:nvCxnSpPr>
        <p:spPr>
          <a:xfrm>
            <a:off x="5010789" y="2617351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8181F3-07C9-E4FF-C596-AC71198A2F13}"/>
              </a:ext>
            </a:extLst>
          </p:cNvPr>
          <p:cNvCxnSpPr>
            <a:cxnSpLocks/>
          </p:cNvCxnSpPr>
          <p:nvPr/>
        </p:nvCxnSpPr>
        <p:spPr>
          <a:xfrm>
            <a:off x="5070856" y="3639787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757762-0EF9-ACE3-716B-3E884202C543}"/>
              </a:ext>
            </a:extLst>
          </p:cNvPr>
          <p:cNvCxnSpPr>
            <a:cxnSpLocks/>
          </p:cNvCxnSpPr>
          <p:nvPr/>
        </p:nvCxnSpPr>
        <p:spPr>
          <a:xfrm flipV="1">
            <a:off x="7247999" y="3302113"/>
            <a:ext cx="625341" cy="33767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FB309D-3BC5-39BD-1BED-E183E8940786}"/>
              </a:ext>
            </a:extLst>
          </p:cNvPr>
          <p:cNvCxnSpPr>
            <a:cxnSpLocks/>
          </p:cNvCxnSpPr>
          <p:nvPr/>
        </p:nvCxnSpPr>
        <p:spPr>
          <a:xfrm>
            <a:off x="7296635" y="3760735"/>
            <a:ext cx="576705" cy="43719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F8D951-FEC2-02FB-5666-DFF47785E793}"/>
              </a:ext>
            </a:extLst>
          </p:cNvPr>
          <p:cNvCxnSpPr>
            <a:cxnSpLocks/>
          </p:cNvCxnSpPr>
          <p:nvPr/>
        </p:nvCxnSpPr>
        <p:spPr>
          <a:xfrm>
            <a:off x="7275177" y="3850272"/>
            <a:ext cx="702331" cy="131549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B0DB688-21A5-3EC9-8056-38DCA3E9F15F}"/>
              </a:ext>
            </a:extLst>
          </p:cNvPr>
          <p:cNvCxnSpPr>
            <a:cxnSpLocks/>
          </p:cNvCxnSpPr>
          <p:nvPr/>
        </p:nvCxnSpPr>
        <p:spPr>
          <a:xfrm>
            <a:off x="9592686" y="3280322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AC7F46B-700C-F87F-1A9B-57FDE2249463}"/>
              </a:ext>
            </a:extLst>
          </p:cNvPr>
          <p:cNvSpPr txBox="1"/>
          <p:nvPr/>
        </p:nvSpPr>
        <p:spPr>
          <a:xfrm>
            <a:off x="362198" y="1673223"/>
            <a:ext cx="576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Workflow = read cleaning, assembly, and kraken annotation</a:t>
            </a:r>
          </a:p>
        </p:txBody>
      </p:sp>
    </p:spTree>
    <p:extLst>
      <p:ext uri="{BB962C8B-B14F-4D97-AF65-F5344CB8AC3E}">
        <p14:creationId xmlns:p14="http://schemas.microsoft.com/office/powerpoint/2010/main" val="3878644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76C62-D015-C467-962C-0208A53E2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99D19D-2006-C937-D09B-EFD5D374C51C}"/>
              </a:ext>
            </a:extLst>
          </p:cNvPr>
          <p:cNvSpPr/>
          <p:nvPr/>
        </p:nvSpPr>
        <p:spPr>
          <a:xfrm>
            <a:off x="362198" y="1690688"/>
            <a:ext cx="11620006" cy="3106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1A8C50C-F399-B451-9499-DE6B9932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Workflows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90D4F6-BFFB-27ED-C58B-7A34051E0C1C}"/>
              </a:ext>
            </a:extLst>
          </p:cNvPr>
          <p:cNvSpPr/>
          <p:nvPr/>
        </p:nvSpPr>
        <p:spPr>
          <a:xfrm>
            <a:off x="662871" y="2841171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Raw reads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D36D7A-2E25-A098-7211-36D13EF7D351}"/>
              </a:ext>
            </a:extLst>
          </p:cNvPr>
          <p:cNvSpPr/>
          <p:nvPr/>
        </p:nvSpPr>
        <p:spPr>
          <a:xfrm>
            <a:off x="3410639" y="2323437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FastQC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FB07B5-7133-8C8C-B740-4FBF14E3BA10}"/>
              </a:ext>
            </a:extLst>
          </p:cNvPr>
          <p:cNvSpPr/>
          <p:nvPr/>
        </p:nvSpPr>
        <p:spPr>
          <a:xfrm>
            <a:off x="3410639" y="3411186"/>
            <a:ext cx="1506186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Trimmomatic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068246-EA2D-911C-3028-469BF6816646}"/>
              </a:ext>
            </a:extLst>
          </p:cNvPr>
          <p:cNvSpPr/>
          <p:nvPr/>
        </p:nvSpPr>
        <p:spPr>
          <a:xfrm>
            <a:off x="8074780" y="3008199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FastQC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9FFF32-9658-79AC-E718-A702AB539501}"/>
              </a:ext>
            </a:extLst>
          </p:cNvPr>
          <p:cNvSpPr/>
          <p:nvPr/>
        </p:nvSpPr>
        <p:spPr>
          <a:xfrm>
            <a:off x="5703074" y="2323437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436AB7-8088-3471-5E06-8E26A8771AB7}"/>
              </a:ext>
            </a:extLst>
          </p:cNvPr>
          <p:cNvSpPr/>
          <p:nvPr/>
        </p:nvSpPr>
        <p:spPr>
          <a:xfrm>
            <a:off x="10208988" y="2989849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118235-E05F-9F23-D47F-013F93412F71}"/>
              </a:ext>
            </a:extLst>
          </p:cNvPr>
          <p:cNvSpPr/>
          <p:nvPr/>
        </p:nvSpPr>
        <p:spPr>
          <a:xfrm>
            <a:off x="5730667" y="3403531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Clean reads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A933E7-982A-FA85-5222-77ADD9D0B92B}"/>
              </a:ext>
            </a:extLst>
          </p:cNvPr>
          <p:cNvCxnSpPr>
            <a:cxnSpLocks/>
          </p:cNvCxnSpPr>
          <p:nvPr/>
        </p:nvCxnSpPr>
        <p:spPr>
          <a:xfrm flipV="1">
            <a:off x="2174566" y="2642260"/>
            <a:ext cx="964708" cy="44261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EB0150-95A2-495D-357B-FA3A8577758F}"/>
              </a:ext>
            </a:extLst>
          </p:cNvPr>
          <p:cNvCxnSpPr>
            <a:cxnSpLocks/>
          </p:cNvCxnSpPr>
          <p:nvPr/>
        </p:nvCxnSpPr>
        <p:spPr>
          <a:xfrm>
            <a:off x="2174566" y="3160087"/>
            <a:ext cx="918956" cy="4797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151EFF9-BE28-6605-09F6-CB41CD0E7999}"/>
              </a:ext>
            </a:extLst>
          </p:cNvPr>
          <p:cNvSpPr/>
          <p:nvPr/>
        </p:nvSpPr>
        <p:spPr>
          <a:xfrm>
            <a:off x="8074780" y="3850272"/>
            <a:ext cx="1413164" cy="8026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Assembly with MEGAHIT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E40B03-B884-7D36-E283-013F989E15C6}"/>
              </a:ext>
            </a:extLst>
          </p:cNvPr>
          <p:cNvCxnSpPr>
            <a:cxnSpLocks/>
          </p:cNvCxnSpPr>
          <p:nvPr/>
        </p:nvCxnSpPr>
        <p:spPr>
          <a:xfrm>
            <a:off x="5010789" y="2617351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E9F3D5-0D70-E7F0-49F0-91BE7E0A766A}"/>
              </a:ext>
            </a:extLst>
          </p:cNvPr>
          <p:cNvCxnSpPr>
            <a:cxnSpLocks/>
          </p:cNvCxnSpPr>
          <p:nvPr/>
        </p:nvCxnSpPr>
        <p:spPr>
          <a:xfrm>
            <a:off x="5070856" y="3639787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BB0DA3A-7548-A0FD-CBC6-4A7E98FB8785}"/>
              </a:ext>
            </a:extLst>
          </p:cNvPr>
          <p:cNvCxnSpPr>
            <a:cxnSpLocks/>
          </p:cNvCxnSpPr>
          <p:nvPr/>
        </p:nvCxnSpPr>
        <p:spPr>
          <a:xfrm flipV="1">
            <a:off x="7247999" y="3302113"/>
            <a:ext cx="625341" cy="33767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0F24FC-C416-6BB3-8E0F-1D85C601F08D}"/>
              </a:ext>
            </a:extLst>
          </p:cNvPr>
          <p:cNvCxnSpPr>
            <a:cxnSpLocks/>
          </p:cNvCxnSpPr>
          <p:nvPr/>
        </p:nvCxnSpPr>
        <p:spPr>
          <a:xfrm>
            <a:off x="7296635" y="3760735"/>
            <a:ext cx="576705" cy="43719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C78410-C126-DF60-94BC-8FD3197CEC43}"/>
              </a:ext>
            </a:extLst>
          </p:cNvPr>
          <p:cNvCxnSpPr>
            <a:cxnSpLocks/>
          </p:cNvCxnSpPr>
          <p:nvPr/>
        </p:nvCxnSpPr>
        <p:spPr>
          <a:xfrm>
            <a:off x="9592686" y="3280322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5A3329-C596-2A05-99FD-E2532974D6BC}"/>
              </a:ext>
            </a:extLst>
          </p:cNvPr>
          <p:cNvSpPr txBox="1"/>
          <p:nvPr/>
        </p:nvSpPr>
        <p:spPr>
          <a:xfrm>
            <a:off x="362198" y="1673223"/>
            <a:ext cx="3906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Workflow = read cleaning and assembly</a:t>
            </a:r>
          </a:p>
        </p:txBody>
      </p:sp>
    </p:spTree>
    <p:extLst>
      <p:ext uri="{BB962C8B-B14F-4D97-AF65-F5344CB8AC3E}">
        <p14:creationId xmlns:p14="http://schemas.microsoft.com/office/powerpoint/2010/main" val="4176115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C228D-E1B2-350D-DD65-4E738110F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582806-8BF5-8E05-D6FA-B88DFB301265}"/>
              </a:ext>
            </a:extLst>
          </p:cNvPr>
          <p:cNvSpPr/>
          <p:nvPr/>
        </p:nvSpPr>
        <p:spPr>
          <a:xfrm>
            <a:off x="362198" y="1690688"/>
            <a:ext cx="11620006" cy="24478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7D6479-9865-20A8-EA1D-2A542BEF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Workflows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BC3921-350F-2063-B0D9-E0D00E54C4FC}"/>
              </a:ext>
            </a:extLst>
          </p:cNvPr>
          <p:cNvSpPr/>
          <p:nvPr/>
        </p:nvSpPr>
        <p:spPr>
          <a:xfrm>
            <a:off x="662871" y="2841171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Raw reads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E1ECE4-0E70-D4FE-3AEE-467B2E762D60}"/>
              </a:ext>
            </a:extLst>
          </p:cNvPr>
          <p:cNvSpPr/>
          <p:nvPr/>
        </p:nvSpPr>
        <p:spPr>
          <a:xfrm>
            <a:off x="3410639" y="2323437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FastQC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867D46-0F11-3472-0FCE-F80701D0C45E}"/>
              </a:ext>
            </a:extLst>
          </p:cNvPr>
          <p:cNvSpPr/>
          <p:nvPr/>
        </p:nvSpPr>
        <p:spPr>
          <a:xfrm>
            <a:off x="3410639" y="3411186"/>
            <a:ext cx="1506186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Trimmomatic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D24858-DDDA-5DED-52B0-A696EBC5CCD0}"/>
              </a:ext>
            </a:extLst>
          </p:cNvPr>
          <p:cNvSpPr/>
          <p:nvPr/>
        </p:nvSpPr>
        <p:spPr>
          <a:xfrm>
            <a:off x="8074780" y="3008199"/>
            <a:ext cx="1413164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FastQC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FE4E3A-F212-CC5F-043A-B790E9F0304E}"/>
              </a:ext>
            </a:extLst>
          </p:cNvPr>
          <p:cNvSpPr/>
          <p:nvPr/>
        </p:nvSpPr>
        <p:spPr>
          <a:xfrm>
            <a:off x="5703074" y="2323437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92A0E2-9A53-8460-B8D3-77B8D1212689}"/>
              </a:ext>
            </a:extLst>
          </p:cNvPr>
          <p:cNvSpPr/>
          <p:nvPr/>
        </p:nvSpPr>
        <p:spPr>
          <a:xfrm>
            <a:off x="10208988" y="2989849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 report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8ACCD6-2070-5605-91DB-673408459166}"/>
              </a:ext>
            </a:extLst>
          </p:cNvPr>
          <p:cNvSpPr/>
          <p:nvPr/>
        </p:nvSpPr>
        <p:spPr>
          <a:xfrm>
            <a:off x="5730667" y="3403531"/>
            <a:ext cx="1413164" cy="587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Clean reads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67C6EC-4ABC-DACB-5B90-79B4C03E1B5F}"/>
              </a:ext>
            </a:extLst>
          </p:cNvPr>
          <p:cNvCxnSpPr>
            <a:cxnSpLocks/>
          </p:cNvCxnSpPr>
          <p:nvPr/>
        </p:nvCxnSpPr>
        <p:spPr>
          <a:xfrm flipV="1">
            <a:off x="2174566" y="2642260"/>
            <a:ext cx="964708" cy="44261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2A2325-51EA-B5A4-B780-5BCCC6D80323}"/>
              </a:ext>
            </a:extLst>
          </p:cNvPr>
          <p:cNvCxnSpPr>
            <a:cxnSpLocks/>
          </p:cNvCxnSpPr>
          <p:nvPr/>
        </p:nvCxnSpPr>
        <p:spPr>
          <a:xfrm>
            <a:off x="2174566" y="3160087"/>
            <a:ext cx="918956" cy="47970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82FECBA-A7A6-D1F3-D273-88136F7B2CB0}"/>
              </a:ext>
            </a:extLst>
          </p:cNvPr>
          <p:cNvCxnSpPr>
            <a:cxnSpLocks/>
          </p:cNvCxnSpPr>
          <p:nvPr/>
        </p:nvCxnSpPr>
        <p:spPr>
          <a:xfrm>
            <a:off x="5010789" y="2617351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E15C4B-88F9-6110-E750-B1A4F2A96B94}"/>
              </a:ext>
            </a:extLst>
          </p:cNvPr>
          <p:cNvCxnSpPr>
            <a:cxnSpLocks/>
          </p:cNvCxnSpPr>
          <p:nvPr/>
        </p:nvCxnSpPr>
        <p:spPr>
          <a:xfrm>
            <a:off x="5070856" y="3639787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DCDB20-F17A-D9DC-5237-74B09228EC3B}"/>
              </a:ext>
            </a:extLst>
          </p:cNvPr>
          <p:cNvCxnSpPr>
            <a:cxnSpLocks/>
          </p:cNvCxnSpPr>
          <p:nvPr/>
        </p:nvCxnSpPr>
        <p:spPr>
          <a:xfrm flipV="1">
            <a:off x="7247999" y="3302113"/>
            <a:ext cx="625341" cy="33767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66C4556-DCB5-836D-E615-22E5FC2BCDCE}"/>
              </a:ext>
            </a:extLst>
          </p:cNvPr>
          <p:cNvCxnSpPr>
            <a:cxnSpLocks/>
          </p:cNvCxnSpPr>
          <p:nvPr/>
        </p:nvCxnSpPr>
        <p:spPr>
          <a:xfrm>
            <a:off x="9592686" y="3280322"/>
            <a:ext cx="50529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B4131A-6792-5B60-C8CA-407B7B6EC7F4}"/>
              </a:ext>
            </a:extLst>
          </p:cNvPr>
          <p:cNvSpPr txBox="1"/>
          <p:nvPr/>
        </p:nvSpPr>
        <p:spPr>
          <a:xfrm>
            <a:off x="362198" y="1673223"/>
            <a:ext cx="2577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Workflow = read cleaning</a:t>
            </a:r>
          </a:p>
        </p:txBody>
      </p:sp>
    </p:spTree>
    <p:extLst>
      <p:ext uri="{BB962C8B-B14F-4D97-AF65-F5344CB8AC3E}">
        <p14:creationId xmlns:p14="http://schemas.microsoft.com/office/powerpoint/2010/main" val="272018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009F4-010A-5D70-CA6A-D0AA9A1B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EE21A41-5CCE-BF3D-34F8-BE9F217F2891}"/>
              </a:ext>
            </a:extLst>
          </p:cNvPr>
          <p:cNvSpPr txBox="1"/>
          <p:nvPr/>
        </p:nvSpPr>
        <p:spPr>
          <a:xfrm>
            <a:off x="925364" y="1690688"/>
            <a:ext cx="54995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work/ </a:t>
            </a:r>
            <a:r>
              <a:rPr lang="en-US" dirty="0"/>
              <a:t>is where </a:t>
            </a:r>
            <a:r>
              <a:rPr lang="en-US" b="1" dirty="0"/>
              <a:t>all the actual execution happens</a:t>
            </a:r>
            <a:r>
              <a:rPr lang="en-US" dirty="0"/>
              <a:t>. Every process runs in its own isolated subdirectory within work/.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Contains temporary files and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cryptic hash subdirectories (e.g., work/a3/f2d8e9...)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be cleaned periodically but useful for debugging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Usually not where you want your final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Allows to 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–resume </a:t>
            </a:r>
            <a:r>
              <a:rPr lang="en-US" dirty="0"/>
              <a:t>pipeline at different 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Important for troubleshooting</a:t>
            </a:r>
            <a:r>
              <a:rPr lang="en-US" dirty="0"/>
              <a:t>: When something fails, the error message tells you which work subdirectory to check.</a:t>
            </a:r>
          </a:p>
          <a:p>
            <a:endParaRPr lang="en-US" dirty="0"/>
          </a:p>
          <a:p>
            <a:r>
              <a:rPr lang="en-US" sz="1600" b="1" dirty="0"/>
              <a:t>The conveyor belt (channel) doesn't carry the actual products through the customer-facing factory floor</a:t>
            </a:r>
            <a:r>
              <a:rPr lang="en-US" sz="1600" dirty="0"/>
              <a:t> - it carries instructions about where to find them in the workshop!</a:t>
            </a:r>
          </a:p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B77EEF3-8889-EB33-D27E-3F77D73D1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components: </a:t>
            </a:r>
            <a:r>
              <a:rPr lang="en-US" b="1" dirty="0"/>
              <a:t>work directory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1CA3CA-489D-B6C8-49AD-4C308DB0A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049" y="2157721"/>
            <a:ext cx="4410894" cy="28921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F7D7772-1DCF-BBB2-F068-BAD2D977C2B2}"/>
              </a:ext>
            </a:extLst>
          </p:cNvPr>
          <p:cNvSpPr txBox="1"/>
          <p:nvPr/>
        </p:nvSpPr>
        <p:spPr>
          <a:xfrm>
            <a:off x="7112000" y="5159945"/>
            <a:ext cx="424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Each hash subdirectory (like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a3/f2d8e9...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represents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one task execution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- one sample going through one process.</a:t>
            </a:r>
          </a:p>
        </p:txBody>
      </p:sp>
      <p:pic>
        <p:nvPicPr>
          <p:cNvPr id="3076" name="Picture 4" descr="Black line icon for storage room 42725354 Vector Art at Vecteezy">
            <a:extLst>
              <a:ext uri="{FF2B5EF4-FFF2-40B4-BE49-F238E27FC236}">
                <a16:creationId xmlns:a16="http://schemas.microsoft.com/office/drawing/2014/main" id="{F1AEF158-55D7-D9DC-3F3D-5A13B5FF9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7210" y="647074"/>
            <a:ext cx="635365" cy="63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092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Industrial conveyor belt line vector illustration. Conveyor process  abstract machine production Stock Vector Image &amp; Art - Alamy">
            <a:extLst>
              <a:ext uri="{FF2B5EF4-FFF2-40B4-BE49-F238E27FC236}">
                <a16:creationId xmlns:a16="http://schemas.microsoft.com/office/drawing/2014/main" id="{5B846E23-333C-EC1B-6E34-8636F94E9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62"/>
          <a:stretch>
            <a:fillRect/>
          </a:stretch>
        </p:blipFill>
        <p:spPr bwMode="auto">
          <a:xfrm>
            <a:off x="2208172" y="1241529"/>
            <a:ext cx="8232193" cy="437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EBE1959-0A4E-237E-64F3-F30C5C3AB922}"/>
              </a:ext>
            </a:extLst>
          </p:cNvPr>
          <p:cNvSpPr/>
          <p:nvPr/>
        </p:nvSpPr>
        <p:spPr>
          <a:xfrm>
            <a:off x="2208171" y="3044142"/>
            <a:ext cx="2978631" cy="25723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BC98E-B37A-DA70-9929-7E21645409FA}"/>
              </a:ext>
            </a:extLst>
          </p:cNvPr>
          <p:cNvSpPr txBox="1"/>
          <p:nvPr/>
        </p:nvSpPr>
        <p:spPr>
          <a:xfrm>
            <a:off x="1179450" y="3428999"/>
            <a:ext cx="14480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Processes </a:t>
            </a:r>
            <a:r>
              <a:rPr lang="en-US" dirty="0"/>
              <a:t>(tools, factory stations)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2DFB6-66E8-71F3-714E-BBBA2AC625F5}"/>
              </a:ext>
            </a:extLst>
          </p:cNvPr>
          <p:cNvSpPr txBox="1"/>
          <p:nvPr/>
        </p:nvSpPr>
        <p:spPr>
          <a:xfrm>
            <a:off x="4698697" y="555457"/>
            <a:ext cx="325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Workflow</a:t>
            </a:r>
            <a:r>
              <a:rPr lang="en-US" dirty="0"/>
              <a:t> (logic, factory plan)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52505B3-8FB4-B96B-55F4-630EDFF6CC74}"/>
              </a:ext>
            </a:extLst>
          </p:cNvPr>
          <p:cNvSpPr/>
          <p:nvPr/>
        </p:nvSpPr>
        <p:spPr>
          <a:xfrm>
            <a:off x="5425933" y="2083443"/>
            <a:ext cx="2051312" cy="221544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2A438F05-38E5-12B8-AAD5-3063E2A4AAA4}"/>
              </a:ext>
            </a:extLst>
          </p:cNvPr>
          <p:cNvSpPr/>
          <p:nvPr/>
        </p:nvSpPr>
        <p:spPr>
          <a:xfrm rot="16200000">
            <a:off x="5944232" y="-2705692"/>
            <a:ext cx="303535" cy="777565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164923-0666-18DF-DD14-76912076C831}"/>
              </a:ext>
            </a:extLst>
          </p:cNvPr>
          <p:cNvSpPr/>
          <p:nvPr/>
        </p:nvSpPr>
        <p:spPr>
          <a:xfrm>
            <a:off x="5186801" y="4298885"/>
            <a:ext cx="5253563" cy="171023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CBF7F-D725-7413-DAD3-09016AB6F0A1}"/>
              </a:ext>
            </a:extLst>
          </p:cNvPr>
          <p:cNvSpPr txBox="1"/>
          <p:nvPr/>
        </p:nvSpPr>
        <p:spPr>
          <a:xfrm>
            <a:off x="6451589" y="6044519"/>
            <a:ext cx="325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Channels </a:t>
            </a:r>
            <a:r>
              <a:rPr lang="en-US" dirty="0"/>
              <a:t>(conveyor belts)</a:t>
            </a:r>
          </a:p>
        </p:txBody>
      </p:sp>
    </p:spTree>
    <p:extLst>
      <p:ext uri="{BB962C8B-B14F-4D97-AF65-F5344CB8AC3E}">
        <p14:creationId xmlns:p14="http://schemas.microsoft.com/office/powerpoint/2010/main" val="407834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6" grpId="0" animBg="1"/>
      <p:bldP spid="7" grpId="0" animBg="1"/>
      <p:bldP spid="8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AF89-510A-C89B-55C3-CDC7529F1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559012-82C8-B274-9E0E-9235350F9606}"/>
              </a:ext>
            </a:extLst>
          </p:cNvPr>
          <p:cNvSpPr txBox="1"/>
          <p:nvPr/>
        </p:nvSpPr>
        <p:spPr>
          <a:xfrm>
            <a:off x="6096000" y="2134677"/>
            <a:ext cx="54995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Configuration files </a:t>
            </a:r>
            <a:r>
              <a:rPr lang="en-US" dirty="0"/>
              <a:t>(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nextflow.config</a:t>
            </a:r>
            <a:r>
              <a:rPr lang="en-US" dirty="0"/>
              <a:t>) separate execution settings from pipeline logic: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Executor settings</a:t>
            </a:r>
            <a:r>
              <a:rPr lang="en-US" dirty="0"/>
              <a:t>: Where to run (local, HPC, cloud)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Resource allocation</a:t>
            </a:r>
            <a:r>
              <a:rPr lang="en-US" dirty="0"/>
              <a:t>: Default CPU, memory per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Container settings</a:t>
            </a:r>
            <a:r>
              <a:rPr lang="en-US" dirty="0"/>
              <a:t>: Docker/Singularity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Profiles</a:t>
            </a:r>
            <a:r>
              <a:rPr lang="en-US" dirty="0"/>
              <a:t>: Different configurations for different environments (laptop vs cluster)</a:t>
            </a:r>
          </a:p>
          <a:p>
            <a:endParaRPr lang="en-US" dirty="0"/>
          </a:p>
          <a:p>
            <a:r>
              <a:rPr lang="en-US" dirty="0"/>
              <a:t>This separation allows the same pipeline to run across different infrastructure without code changes.</a:t>
            </a:r>
          </a:p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8085EB4-79EB-8EF0-F251-72EB70D8F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components: </a:t>
            </a:r>
            <a:r>
              <a:rPr lang="en-US" b="1" dirty="0"/>
              <a:t>config files</a:t>
            </a:r>
          </a:p>
        </p:txBody>
      </p:sp>
      <p:pic>
        <p:nvPicPr>
          <p:cNvPr id="3074" name="Picture 2" descr="Oversee - May 22, 2016 Word Of The Day | Britannica Dictionary">
            <a:extLst>
              <a:ext uri="{FF2B5EF4-FFF2-40B4-BE49-F238E27FC236}">
                <a16:creationId xmlns:a16="http://schemas.microsoft.com/office/drawing/2014/main" id="{EAB5C093-D743-8EF5-753F-81CDEB863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93884"/>
            <a:ext cx="4334584" cy="302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Manual Icon Vector Art, Icons, and Graphics for Free Download">
            <a:extLst>
              <a:ext uri="{FF2B5EF4-FFF2-40B4-BE49-F238E27FC236}">
                <a16:creationId xmlns:a16="http://schemas.microsoft.com/office/drawing/2014/main" id="{41F8F46F-0A04-AAB2-1EFE-A68F2CDDE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1508" y="669604"/>
            <a:ext cx="431149" cy="53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215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7E632-1B08-6D8A-3A25-87625934D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EDBFA83-B7A1-3974-0E7E-4C0F70E71604}"/>
              </a:ext>
            </a:extLst>
          </p:cNvPr>
          <p:cNvSpPr txBox="1">
            <a:spLocks/>
          </p:cNvSpPr>
          <p:nvPr/>
        </p:nvSpPr>
        <p:spPr>
          <a:xfrm>
            <a:off x="1646320" y="2089105"/>
            <a:ext cx="4570412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Containers</a:t>
            </a:r>
            <a:endParaRPr lang="en-US" sz="5400" dirty="0">
              <a:latin typeface="Helvetica" pitchFamily="2" charset="0"/>
            </a:endParaRPr>
          </a:p>
        </p:txBody>
      </p:sp>
      <p:pic>
        <p:nvPicPr>
          <p:cNvPr id="1026" name="Picture 2" descr="Software - Free computer icons">
            <a:extLst>
              <a:ext uri="{FF2B5EF4-FFF2-40B4-BE49-F238E27FC236}">
                <a16:creationId xmlns:a16="http://schemas.microsoft.com/office/drawing/2014/main" id="{90307FDE-986B-CAFD-B54C-EAD152D20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40329"/>
            <a:ext cx="1248229" cy="124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826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AF49B-F4D4-672E-CBAC-B59D767AF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3F50-ADB6-FEBA-66C6-B06489CA2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The dependency problem</a:t>
            </a:r>
          </a:p>
        </p:txBody>
      </p:sp>
      <p:pic>
        <p:nvPicPr>
          <p:cNvPr id="3074" name="Picture 2" descr="Comprehensive Guide to Dependency Management in Python | Towards Data  Science">
            <a:extLst>
              <a:ext uri="{FF2B5EF4-FFF2-40B4-BE49-F238E27FC236}">
                <a16:creationId xmlns:a16="http://schemas.microsoft.com/office/drawing/2014/main" id="{B69F3160-5F2F-5AD0-786A-CD86791F1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175" y="1851789"/>
            <a:ext cx="8763000" cy="456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772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65C6-6F3E-E159-BCCB-BF81A9767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7C3F9-71A8-FC24-43BA-7CEEF829E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Introduction to containers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AE2760-694B-59C8-C3B1-C3202ED4722D}"/>
              </a:ext>
            </a:extLst>
          </p:cNvPr>
          <p:cNvSpPr txBox="1"/>
          <p:nvPr/>
        </p:nvSpPr>
        <p:spPr>
          <a:xfrm>
            <a:off x="838200" y="1442549"/>
            <a:ext cx="64054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</a:t>
            </a:r>
            <a:r>
              <a:rPr lang="en-US" b="1" dirty="0"/>
              <a:t>have to</a:t>
            </a:r>
            <a:r>
              <a:rPr lang="en-US" dirty="0"/>
              <a:t> use containers when: </a:t>
            </a:r>
          </a:p>
          <a:p>
            <a:pPr marL="285750" indent="-285750">
              <a:buFontTx/>
              <a:buChar char="-"/>
            </a:pPr>
            <a:r>
              <a:rPr lang="en-US" dirty="0"/>
              <a:t>extremely complex dependencies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require a specific operating system configuration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need to guarantee that analysis will run identically on any system — not just Hazel</a:t>
            </a:r>
          </a:p>
          <a:p>
            <a:endParaRPr lang="en-US" dirty="0"/>
          </a:p>
          <a:p>
            <a:r>
              <a:rPr lang="en-US" dirty="0"/>
              <a:t>We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should generally use containers</a:t>
            </a:r>
            <a:endParaRPr lang="en-US" dirty="0"/>
          </a:p>
          <a:p>
            <a:endParaRPr lang="en-US" dirty="0"/>
          </a:p>
          <a:p>
            <a:r>
              <a:rPr lang="en-US" dirty="0"/>
              <a:t>A container is like a complete mini-computer: </a:t>
            </a:r>
          </a:p>
          <a:p>
            <a:pPr marL="285750" indent="-285750">
              <a:buFontTx/>
              <a:buChar char="-"/>
            </a:pPr>
            <a:r>
              <a:rPr lang="en-US" dirty="0"/>
              <a:t>Operating system</a:t>
            </a:r>
          </a:p>
          <a:p>
            <a:pPr marL="285750" indent="-285750">
              <a:buFontTx/>
              <a:buChar char="-"/>
            </a:pPr>
            <a:r>
              <a:rPr lang="en-US" dirty="0"/>
              <a:t>Libraries</a:t>
            </a:r>
          </a:p>
          <a:p>
            <a:pPr marL="285750" indent="-285750">
              <a:buFontTx/>
              <a:buChar char="-"/>
            </a:pPr>
            <a:r>
              <a:rPr lang="en-US" dirty="0"/>
              <a:t>Software</a:t>
            </a:r>
          </a:p>
          <a:p>
            <a:r>
              <a:rPr lang="en-US" dirty="0"/>
              <a:t>You don't install the software — you just run the container.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E3C14-0703-76A5-5414-7B911F521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28" y="1590990"/>
            <a:ext cx="6165273" cy="4281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DAD4BC-53FB-4FAA-3690-291FDBF2CEFE}"/>
              </a:ext>
            </a:extLst>
          </p:cNvPr>
          <p:cNvSpPr txBox="1"/>
          <p:nvPr/>
        </p:nvSpPr>
        <p:spPr>
          <a:xfrm>
            <a:off x="838200" y="5503098"/>
            <a:ext cx="448872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portable, versioned, immutable environments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4F417-8C7D-B8FB-7332-A2FC0621A712}"/>
              </a:ext>
            </a:extLst>
          </p:cNvPr>
          <p:cNvSpPr txBox="1"/>
          <p:nvPr/>
        </p:nvSpPr>
        <p:spPr>
          <a:xfrm>
            <a:off x="838200" y="6020871"/>
            <a:ext cx="830547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An analysis is not just a script — it is a script plus the exact environment in which it run</a:t>
            </a:r>
          </a:p>
        </p:txBody>
      </p:sp>
    </p:spTree>
    <p:extLst>
      <p:ext uri="{BB962C8B-B14F-4D97-AF65-F5344CB8AC3E}">
        <p14:creationId xmlns:p14="http://schemas.microsoft.com/office/powerpoint/2010/main" val="2364049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7E178-611C-4A10-AB68-2E8C2C7D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8F1C3-1BB9-9B74-0597-520B1FC41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Singularity vs. docker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61FA9-7AF1-DC19-E5DD-5BA7E6730003}"/>
              </a:ext>
            </a:extLst>
          </p:cNvPr>
          <p:cNvSpPr txBox="1"/>
          <p:nvPr/>
        </p:nvSpPr>
        <p:spPr>
          <a:xfrm>
            <a:off x="1040495" y="4948291"/>
            <a:ext cx="47117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dominant container platform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likely to encounter in tutorials, documentation, and online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images are stored in registries(Docker Hub and the </a:t>
            </a:r>
            <a:r>
              <a:rPr lang="en-US" dirty="0" err="1"/>
              <a:t>Biocontainers</a:t>
            </a:r>
            <a:r>
              <a:rPr lang="en-US" dirty="0"/>
              <a:t>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412E8-21E2-61B4-F2FD-5F0A010D0509}"/>
              </a:ext>
            </a:extLst>
          </p:cNvPr>
          <p:cNvSpPr txBox="1"/>
          <p:nvPr/>
        </p:nvSpPr>
        <p:spPr>
          <a:xfrm>
            <a:off x="6439788" y="4948291"/>
            <a:ext cx="11066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HPC clusters: Docker requires root privileges.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needing administrator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also directly run Docker images</a:t>
            </a:r>
          </a:p>
        </p:txBody>
      </p:sp>
      <p:pic>
        <p:nvPicPr>
          <p:cNvPr id="4098" name="Picture 2" descr="Docker Logo and symbol, meaning, history, PNG, brand">
            <a:extLst>
              <a:ext uri="{FF2B5EF4-FFF2-40B4-BE49-F238E27FC236}">
                <a16:creationId xmlns:a16="http://schemas.microsoft.com/office/drawing/2014/main" id="{BD41C810-FE27-8401-204E-378BA6ECE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744" y="2165459"/>
            <a:ext cx="4103219" cy="2308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pptainer - Portable, Reproducible Containers">
            <a:extLst>
              <a:ext uri="{FF2B5EF4-FFF2-40B4-BE49-F238E27FC236}">
                <a16:creationId xmlns:a16="http://schemas.microsoft.com/office/drawing/2014/main" id="{7EB3E702-EF5A-9AEC-6839-E491F44BD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438" y="2906888"/>
            <a:ext cx="5143500" cy="157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050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5ACD5E-A6FD-711E-3B35-DB8A4D17D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Next steps…</a:t>
            </a:r>
          </a:p>
        </p:txBody>
      </p:sp>
      <p:pic>
        <p:nvPicPr>
          <p:cNvPr id="7" name="Picture 6" descr="nf-core">
            <a:extLst>
              <a:ext uri="{FF2B5EF4-FFF2-40B4-BE49-F238E27FC236}">
                <a16:creationId xmlns:a16="http://schemas.microsoft.com/office/drawing/2014/main" id="{03BE56AD-44DB-1207-F500-4D2322669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80555"/>
            <a:ext cx="5424080" cy="3051046"/>
          </a:xfrm>
          <a:prstGeom prst="rect">
            <a:avLst/>
          </a:prstGeom>
        </p:spPr>
      </p:pic>
      <p:pic>
        <p:nvPicPr>
          <p:cNvPr id="8" name="Picture 7" descr="A simple test framework for Nextflow pipelines - Askimed">
            <a:extLst>
              <a:ext uri="{FF2B5EF4-FFF2-40B4-BE49-F238E27FC236}">
                <a16:creationId xmlns:a16="http://schemas.microsoft.com/office/drawing/2014/main" id="{675C2A6E-24A6-B974-5E74-524567E85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669" y="1431235"/>
            <a:ext cx="5049079" cy="448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72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4F6AEA-5F69-088A-A0DE-40B32ABDE5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24"/>
          <a:stretch>
            <a:fillRect/>
          </a:stretch>
        </p:blipFill>
        <p:spPr>
          <a:xfrm>
            <a:off x="6851374" y="1690688"/>
            <a:ext cx="4784312" cy="452340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890979E-372F-41F4-5A62-CEF5E67B6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elvetica" pitchFamily="2" charset="0"/>
              </a:rPr>
              <a:t>Leave us your feedback!</a:t>
            </a:r>
          </a:p>
        </p:txBody>
      </p:sp>
      <p:pic>
        <p:nvPicPr>
          <p:cNvPr id="7" name="Picture 6" descr="Feedback - Free icons">
            <a:extLst>
              <a:ext uri="{FF2B5EF4-FFF2-40B4-BE49-F238E27FC236}">
                <a16:creationId xmlns:a16="http://schemas.microsoft.com/office/drawing/2014/main" id="{020CDB47-E032-4988-06C4-FF4127877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471" y="34290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28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2214</TotalTime>
  <Words>1382</Words>
  <Application>Microsoft Macintosh PowerPoint</Application>
  <PresentationFormat>Widescreen</PresentationFormat>
  <Paragraphs>200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Helvetica</vt:lpstr>
      <vt:lpstr>Menlo</vt:lpstr>
      <vt:lpstr>Office Theme</vt:lpstr>
      <vt:lpstr>PowerPoint Presentation</vt:lpstr>
      <vt:lpstr>Plan</vt:lpstr>
      <vt:lpstr>Practical considerations</vt:lpstr>
      <vt:lpstr>Access to SLURM based HPC?</vt:lpstr>
      <vt:lpstr>Why pipeline managers?</vt:lpstr>
      <vt:lpstr>Why pipeline managers?</vt:lpstr>
      <vt:lpstr>Why Nextflow?</vt:lpstr>
      <vt:lpstr>Today’s pipeline</vt:lpstr>
      <vt:lpstr>Nextflow components: processes</vt:lpstr>
      <vt:lpstr>Processes</vt:lpstr>
      <vt:lpstr>Nextflow components: channels</vt:lpstr>
      <vt:lpstr>Channels</vt:lpstr>
      <vt:lpstr>Channels</vt:lpstr>
      <vt:lpstr>Nextflow components: workflows</vt:lpstr>
      <vt:lpstr>Workflows</vt:lpstr>
      <vt:lpstr>Workflows</vt:lpstr>
      <vt:lpstr>Workflows</vt:lpstr>
      <vt:lpstr>Nextflow components: work directory</vt:lpstr>
      <vt:lpstr>PowerPoint Presentation</vt:lpstr>
      <vt:lpstr>Nextflow components: config files</vt:lpstr>
      <vt:lpstr>PowerPoint Presentation</vt:lpstr>
      <vt:lpstr>The dependency problem</vt:lpstr>
      <vt:lpstr>Introduction to containers</vt:lpstr>
      <vt:lpstr>Singularity vs. docker</vt:lpstr>
      <vt:lpstr>Next steps…</vt:lpstr>
      <vt:lpstr>Leave us your feedback!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Touceda Suarez</dc:creator>
  <cp:lastModifiedBy>Maria Touceda Suarez</cp:lastModifiedBy>
  <cp:revision>18</cp:revision>
  <dcterms:created xsi:type="dcterms:W3CDTF">2026-08-19T19:55:00Z</dcterms:created>
  <dcterms:modified xsi:type="dcterms:W3CDTF">2026-10-02T13:59:08Z</dcterms:modified>
</cp:coreProperties>
</file>