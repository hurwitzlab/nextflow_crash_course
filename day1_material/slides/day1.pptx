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8.pn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3" r:id="rId3"/>
    <p:sldId id="274" r:id="rId4"/>
    <p:sldId id="260" r:id="rId5"/>
    <p:sldId id="257" r:id="rId6"/>
    <p:sldId id="287" r:id="rId7"/>
    <p:sldId id="258" r:id="rId8"/>
    <p:sldId id="271" r:id="rId9"/>
    <p:sldId id="270" r:id="rId10"/>
    <p:sldId id="272" r:id="rId11"/>
    <p:sldId id="276" r:id="rId12"/>
    <p:sldId id="282" r:id="rId13"/>
    <p:sldId id="283" r:id="rId14"/>
    <p:sldId id="275" r:id="rId15"/>
    <p:sldId id="285" r:id="rId16"/>
    <p:sldId id="284" r:id="rId17"/>
    <p:sldId id="286" r:id="rId18"/>
    <p:sldId id="281" r:id="rId19"/>
    <p:sldId id="277" r:id="rId20"/>
    <p:sldId id="290" r:id="rId21"/>
    <p:sldId id="291" r:id="rId22"/>
    <p:sldId id="303" r:id="rId23"/>
    <p:sldId id="305" r:id="rId24"/>
    <p:sldId id="30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BE99"/>
    <a:srgbClr val="BF9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93"/>
    <p:restoredTop sz="82464"/>
  </p:normalViewPr>
  <p:slideViewPr>
    <p:cSldViewPr snapToGrid="0">
      <p:cViewPr varScale="1">
        <p:scale>
          <a:sx n="97" d="100"/>
          <a:sy n="97" d="100"/>
        </p:scale>
        <p:origin x="19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0662-0BB0-A76F-794F-8643D9E0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CE147-3464-757D-C634-403EDF83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DFD67-4A73-06FD-272B-0E4B38450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b="1" dirty="0"/>
              <a:t>Reproducibility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Same inputs, same software, same results, every time you run it.</a:t>
            </a:r>
            <a:br>
              <a:rPr lang="en-US" dirty="0"/>
            </a:br>
            <a:r>
              <a:rPr lang="en-US" dirty="0"/>
              <a:t>Speaker note: Pinned tool versions in containers (Day 2 §4) mean you and a colleague get identical results months apart.</a:t>
            </a:r>
          </a:p>
          <a:p>
            <a:pPr rtl="0"/>
            <a:r>
              <a:rPr lang="en-US" b="1" dirty="0"/>
              <a:t>Resumability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If a step fails, fix it and pick up where you left off.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dirty="0" err="1"/>
              <a:t>Nextflow</a:t>
            </a:r>
            <a:r>
              <a:rPr lang="en-US" dirty="0"/>
              <a:t> caches finished tasks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work/</a:t>
            </a:r>
            <a:r>
              <a:rPr lang="en-US" dirty="0"/>
              <a:t>;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-resume</a:t>
            </a:r>
            <a:r>
              <a:rPr lang="en-US" dirty="0"/>
              <a:t> reruns only what changed or failed.</a:t>
            </a:r>
          </a:p>
          <a:p>
            <a:pPr rtl="0"/>
            <a:r>
              <a:rPr lang="en-US" b="1" dirty="0"/>
              <a:t>Scalability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One sample or one thousand: the pipeline code doesn't change.</a:t>
            </a:r>
            <a:br>
              <a:rPr lang="en-US" dirty="0"/>
            </a:br>
            <a:r>
              <a:rPr lang="en-US" dirty="0"/>
              <a:t>Speaker note: Channels fan out work per sample automatically (Day 1), and the scheduler runs tasks in parallel.</a:t>
            </a:r>
          </a:p>
          <a:p>
            <a:pPr rtl="0"/>
            <a:r>
              <a:rPr lang="en-US" b="1" dirty="0"/>
              <a:t>Portability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Run on a laptop, HPC, or cloud by changing config, not code.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local</a:t>
            </a:r>
            <a:r>
              <a:rPr lang="en-US" dirty="0"/>
              <a:t> vs.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hazel</a:t>
            </a:r>
            <a:r>
              <a:rPr lang="en-US" dirty="0"/>
              <a:t> (Day 2), where the same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main.nf</a:t>
            </a:r>
            <a:r>
              <a:rPr lang="en-US" dirty="0"/>
              <a:t> switches from your machine to SLURM + </a:t>
            </a:r>
            <a:r>
              <a:rPr lang="en-US" dirty="0" err="1"/>
              <a:t>Apptainer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2BB7-B796-EB2F-4893-C1800B17E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44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point maps to a part of the workshop. Bash in processes (Day 1 process anatomy), channels (Day 1), executors and containers (Day 2), and </a:t>
            </a:r>
            <a:r>
              <a:rPr lang="en-US" dirty="0" err="1"/>
              <a:t>nf</a:t>
            </a:r>
            <a:r>
              <a:rPr lang="en-US" dirty="0"/>
              <a:t>-core is where students go after the course.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8963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ECDC5F-13D1-1842-B2D4-75E829F601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43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35D4-F734-C573-2A24-CD94C09A3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2439-E69F-F5C4-9126-5E66298AF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8540D-111F-DAA4-E2E6-7A34FFD2A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614E0-5C3B-5B0E-C407-AC2A81451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4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CC0C-E0D9-F3F0-5FAB-084E6BCE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C3E39-CBCB-34D5-5F6B-BCAA79058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E61E1-4FFC-B3AC-A1C3-A0B772F4E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A5970-D072-FD1F-21FF-0BD6BF068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6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4F4C-2561-D993-E2AF-6C2F448C3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58F02-F0A9-5C7F-59D3-45CF137DF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752F2-053D-BAF3-4747-65889D1D8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C9165-5886-2A22-7869-3C7F2BB53B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20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hurwitzlab.github.io/COS_Compute_Handbook/chapters/10_downloading_data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org&amp;utm_campaign=index&amp;utm_content=origina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36313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Weekend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Day 1: Foundations; creating a pipeline</a:t>
            </a:r>
          </a:p>
          <a:p>
            <a:r>
              <a:rPr lang="en-US" sz="2400" dirty="0"/>
              <a:t>Processes</a:t>
            </a:r>
          </a:p>
          <a:p>
            <a:r>
              <a:rPr lang="en-US" sz="2400" dirty="0"/>
              <a:t>Channels</a:t>
            </a:r>
          </a:p>
          <a:p>
            <a:r>
              <a:rPr lang="en-US" sz="2400" dirty="0"/>
              <a:t>Workflows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b="1" u="sng" dirty="0"/>
              <a:t>Day 2: From pipeline to production</a:t>
            </a:r>
          </a:p>
          <a:p>
            <a:r>
              <a:rPr lang="en-US" sz="2400" dirty="0"/>
              <a:t>Parametrizing – </a:t>
            </a:r>
            <a:r>
              <a:rPr lang="en-US" sz="2400" dirty="0" err="1"/>
              <a:t>nextflow.config</a:t>
            </a:r>
            <a:endParaRPr lang="en-US" sz="2400" dirty="0"/>
          </a:p>
          <a:p>
            <a:r>
              <a:rPr lang="en-US" sz="2400" dirty="0"/>
              <a:t>Compartmentalizing – modules</a:t>
            </a:r>
          </a:p>
          <a:p>
            <a:r>
              <a:rPr lang="en-US" sz="2400" dirty="0"/>
              <a:t>Making it portable – containers</a:t>
            </a:r>
          </a:p>
          <a:p>
            <a:r>
              <a:rPr lang="en-US" sz="2400" dirty="0"/>
              <a:t>Making it scalable – HPC (SLURM)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share =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We will use small data files for day1 (</a:t>
            </a:r>
            <a:r>
              <a:rPr lang="en-US" dirty="0" err="1"/>
              <a:t>github</a:t>
            </a:r>
            <a:r>
              <a:rPr lang="en-US" dirty="0"/>
              <a:t>) </a:t>
            </a:r>
          </a:p>
          <a:p>
            <a:r>
              <a:rPr lang="en-US" dirty="0"/>
              <a:t>We will use big data files for day2 (hazel) – globus?</a:t>
            </a:r>
          </a:p>
          <a:p>
            <a:r>
              <a:rPr lang="en-US" dirty="0"/>
              <a:t>No internet in compute nodes except xfer (</a:t>
            </a:r>
            <a:r>
              <a:rPr lang="en-US" dirty="0">
                <a:hlinkClick r:id="rId2"/>
              </a:rPr>
              <a:t>https://hurwitzlab.github.io/COS_Compute_Handbook/chapters/10_downloading_data.html</a:t>
            </a:r>
            <a:r>
              <a:rPr lang="en-US" dirty="0"/>
              <a:t>) </a:t>
            </a:r>
          </a:p>
          <a:p>
            <a:r>
              <a:rPr lang="en-US" dirty="0"/>
              <a:t>BRC modules are wrapped container images</a:t>
            </a:r>
          </a:p>
          <a:p>
            <a:r>
              <a:rPr lang="en-US" dirty="0"/>
              <a:t>Jobs my take a while to run, we normally don’t need to wait, it is more important to understand what we are doing and why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2DE2-F5EE-A8DC-8013-71399FC5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37CE-B9A8-081E-B030-A1B26AB7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9864BF-15EE-EE46-47A5-B636525E77CF}"/>
              </a:ext>
            </a:extLst>
          </p:cNvPr>
          <p:cNvSpPr txBox="1"/>
          <p:nvPr/>
        </p:nvSpPr>
        <p:spPr>
          <a:xfrm>
            <a:off x="1101437" y="1795005"/>
            <a:ext cx="105924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 order to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minimize the number of manual steps 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that are required to execute an analysis workflow, computational pipelines automatically chain together multiple tools.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D2CD7-CC3F-89A6-18D7-1872512111FC}"/>
              </a:ext>
            </a:extLst>
          </p:cNvPr>
          <p:cNvSpPr/>
          <p:nvPr/>
        </p:nvSpPr>
        <p:spPr>
          <a:xfrm>
            <a:off x="1101437" y="2959082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Reproducibility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FA295-1B14-B9F3-E2E1-5E4BE5039965}"/>
              </a:ext>
            </a:extLst>
          </p:cNvPr>
          <p:cNvSpPr/>
          <p:nvPr/>
        </p:nvSpPr>
        <p:spPr>
          <a:xfrm>
            <a:off x="1101437" y="4470606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Scalability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6F392F-E495-F8D9-5BB9-F8D6DB2D6FC6}"/>
              </a:ext>
            </a:extLst>
          </p:cNvPr>
          <p:cNvSpPr/>
          <p:nvPr/>
        </p:nvSpPr>
        <p:spPr>
          <a:xfrm>
            <a:off x="6611734" y="2959081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D6438-E0CD-D68E-B250-1A51C751835B}"/>
              </a:ext>
            </a:extLst>
          </p:cNvPr>
          <p:cNvSpPr/>
          <p:nvPr/>
        </p:nvSpPr>
        <p:spPr>
          <a:xfrm>
            <a:off x="6611734" y="4470605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Portability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E6540-2F52-D6C3-4881-D8B39AE12F87}"/>
              </a:ext>
            </a:extLst>
          </p:cNvPr>
          <p:cNvSpPr/>
          <p:nvPr/>
        </p:nvSpPr>
        <p:spPr>
          <a:xfrm>
            <a:off x="3339935" y="2959081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Same inputs, same software, same results, every time you run it.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55D74-D31A-1690-F0DD-C89FCF54AFCB}"/>
              </a:ext>
            </a:extLst>
          </p:cNvPr>
          <p:cNvSpPr/>
          <p:nvPr/>
        </p:nvSpPr>
        <p:spPr>
          <a:xfrm>
            <a:off x="8850232" y="2959080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If a step fails, fix it and pick up where you left off.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AD6DB5-F634-5CF4-7AD0-6BB82479DB7A}"/>
              </a:ext>
            </a:extLst>
          </p:cNvPr>
          <p:cNvSpPr/>
          <p:nvPr/>
        </p:nvSpPr>
        <p:spPr>
          <a:xfrm>
            <a:off x="3339935" y="4470606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One sample or one thousand: the pipeline code doesn't change.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940946-C49C-D981-4AF4-3FD0D3A9545A}"/>
              </a:ext>
            </a:extLst>
          </p:cNvPr>
          <p:cNvSpPr/>
          <p:nvPr/>
        </p:nvSpPr>
        <p:spPr>
          <a:xfrm>
            <a:off x="8850232" y="4470604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Run on a laptop, HPC, or cloud by changing config, not code.</a:t>
            </a:r>
          </a:p>
        </p:txBody>
      </p:sp>
    </p:spTree>
    <p:extLst>
      <p:ext uri="{BB962C8B-B14F-4D97-AF65-F5344CB8AC3E}">
        <p14:creationId xmlns:p14="http://schemas.microsoft.com/office/powerpoint/2010/main" val="3424635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3" name="Picture 2" descr="nf-core">
            <a:extLst>
              <a:ext uri="{FF2B5EF4-FFF2-40B4-BE49-F238E27FC236}">
                <a16:creationId xmlns:a16="http://schemas.microsoft.com/office/drawing/2014/main" id="{0BAEB4E7-8909-C38C-3502-1B49BBA61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334" y="3482772"/>
            <a:ext cx="2515114" cy="14147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FEDD9A-01F9-3CD3-5748-F745EF9B203B}"/>
              </a:ext>
            </a:extLst>
          </p:cNvPr>
          <p:cNvSpPr txBox="1"/>
          <p:nvPr/>
        </p:nvSpPr>
        <p:spPr>
          <a:xfrm>
            <a:off x="876013" y="1437961"/>
            <a:ext cx="847710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workflow language built for data-intensive bioinformatics on any infrastructure.</a:t>
            </a:r>
          </a:p>
          <a:p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 the tools you already know.</a:t>
            </a:r>
            <a:r>
              <a:rPr lang="en-US" dirty="0"/>
              <a:t> Each step is a bash script, or Python, R, Perl. </a:t>
            </a:r>
            <a:r>
              <a:rPr lang="en-US" dirty="0" err="1"/>
              <a:t>Nextflow</a:t>
            </a:r>
            <a:r>
              <a:rPr lang="en-US" dirty="0"/>
              <a:t> wraps your commands; it doesn't replace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 flows, work runs in parallel.</a:t>
            </a:r>
            <a:r>
              <a:rPr lang="en-US" dirty="0"/>
              <a:t> Channels pass files between steps, and each sample runs as soon as its inputs are ready.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Built-in HPC and cloud support.</a:t>
            </a:r>
            <a:r>
              <a:rPr lang="en-US" dirty="0"/>
              <a:t> SLURM, AWS, Google Cloud, Kubernetes: swap executors in config.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First-class containers.</a:t>
            </a:r>
            <a:r>
              <a:rPr lang="en-US" dirty="0"/>
              <a:t> Docker, </a:t>
            </a:r>
            <a:r>
              <a:rPr lang="en-US" dirty="0" err="1"/>
              <a:t>Apptainer</a:t>
            </a:r>
            <a:r>
              <a:rPr lang="en-US" dirty="0"/>
              <a:t>, and Conda are supported per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large community.</a:t>
            </a:r>
            <a:r>
              <a:rPr lang="en-US" dirty="0"/>
              <a:t> </a:t>
            </a:r>
            <a:r>
              <a:rPr lang="en-US" dirty="0" err="1"/>
              <a:t>nf</a:t>
            </a:r>
            <a:r>
              <a:rPr lang="en-US" dirty="0"/>
              <a:t>-core offers 100+ peer-reviewed pipelines and 1,000+ reusable modules.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15A72C4-488A-3743-7574-E03B14A16CD0}"/>
              </a:ext>
            </a:extLst>
          </p:cNvPr>
          <p:cNvGrpSpPr/>
          <p:nvPr/>
        </p:nvGrpSpPr>
        <p:grpSpPr>
          <a:xfrm>
            <a:off x="3005925" y="4897524"/>
            <a:ext cx="6122602" cy="1244472"/>
            <a:chOff x="2928829" y="5005106"/>
            <a:chExt cx="6122602" cy="1244472"/>
          </a:xfrm>
        </p:grpSpPr>
        <p:pic>
          <p:nvPicPr>
            <p:cNvPr id="5" name="Picture 4" descr="GitHub - nextflow-io/nextflow: A DSL for data-driven computational  pipelines · GitHub">
              <a:extLst>
                <a:ext uri="{FF2B5EF4-FFF2-40B4-BE49-F238E27FC236}">
                  <a16:creationId xmlns:a16="http://schemas.microsoft.com/office/drawing/2014/main" id="{BA2AA113-0B2D-413D-F5D3-6133DDFD2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62488" y="5005106"/>
              <a:ext cx="2488943" cy="1244472"/>
            </a:xfrm>
            <a:prstGeom prst="rect">
              <a:avLst/>
            </a:prstGeom>
          </p:spPr>
        </p:pic>
        <p:pic>
          <p:nvPicPr>
            <p:cNvPr id="7" name="Picture 6" descr="File:Snakemake logo dark.png - Wikimedia Commons">
              <a:extLst>
                <a:ext uri="{FF2B5EF4-FFF2-40B4-BE49-F238E27FC236}">
                  <a16:creationId xmlns:a16="http://schemas.microsoft.com/office/drawing/2014/main" id="{1D1C2F67-198F-79CA-B577-41B9F278B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28829" y="5327756"/>
              <a:ext cx="2434675" cy="5991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8768EB8-D1BC-290B-73CD-0EBCFF0C21B7}"/>
                </a:ext>
              </a:extLst>
            </p:cNvPr>
            <p:cNvSpPr txBox="1"/>
            <p:nvPr/>
          </p:nvSpPr>
          <p:spPr>
            <a:xfrm>
              <a:off x="5772056" y="5420039"/>
              <a:ext cx="435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FF84B75-FE4F-33F5-A999-56A2A17CC272}"/>
              </a:ext>
            </a:extLst>
          </p:cNvPr>
          <p:cNvSpPr txBox="1"/>
          <p:nvPr/>
        </p:nvSpPr>
        <p:spPr>
          <a:xfrm>
            <a:off x="1237533" y="5967695"/>
            <a:ext cx="9962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Snakemake</a:t>
            </a:r>
            <a:r>
              <a:rPr lang="en-US" dirty="0"/>
              <a:t> is </a:t>
            </a:r>
            <a:r>
              <a:rPr lang="en-US" b="1" dirty="0"/>
              <a:t>file-driven</a:t>
            </a:r>
            <a:r>
              <a:rPr lang="en-US" dirty="0"/>
              <a:t>, working backward from the outputs you want. </a:t>
            </a:r>
            <a:r>
              <a:rPr lang="en-US" dirty="0" err="1"/>
              <a:t>Nextflow</a:t>
            </a:r>
            <a:r>
              <a:rPr lang="en-US" dirty="0"/>
              <a:t> is </a:t>
            </a:r>
            <a:r>
              <a:rPr lang="en-US" b="1" dirty="0"/>
              <a:t>dataflow-driven</a:t>
            </a:r>
            <a:r>
              <a:rPr lang="en-US" dirty="0"/>
              <a:t>, pushing inputs forward through channels. </a:t>
            </a:r>
          </a:p>
        </p:txBody>
      </p:sp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00578" y="2294930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2597" y="237036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982271" y="2732278"/>
            <a:ext cx="184813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256997" y="2642901"/>
            <a:ext cx="19413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2914978" y="3416537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2914977" y="3803599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8172204" y="332185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2914977" y="4198126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8183233" y="368041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8172204" y="4060842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8183233" y="4441267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AF89-510A-C89B-55C3-CDC7529F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B559012-82C8-B274-9E0E-9235350F9606}"/>
              </a:ext>
            </a:extLst>
          </p:cNvPr>
          <p:cNvSpPr txBox="1"/>
          <p:nvPr/>
        </p:nvSpPr>
        <p:spPr>
          <a:xfrm>
            <a:off x="6096000" y="2134677"/>
            <a:ext cx="54995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Configuration files </a:t>
            </a:r>
            <a:r>
              <a:rPr lang="en-US" dirty="0"/>
              <a:t>(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nextflow.config</a:t>
            </a:r>
            <a:r>
              <a:rPr lang="en-US" dirty="0"/>
              <a:t>) separate execution settings from pipeline logic: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Executor settings</a:t>
            </a:r>
            <a:r>
              <a:rPr lang="en-US" dirty="0"/>
              <a:t>: Where to run (local, HPC, cloud)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Resource allocation</a:t>
            </a:r>
            <a:r>
              <a:rPr lang="en-US" dirty="0"/>
              <a:t>: Default CPU, memory per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Container settings</a:t>
            </a:r>
            <a:r>
              <a:rPr lang="en-US" dirty="0"/>
              <a:t>: Docker/Singularity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Profiles</a:t>
            </a:r>
            <a:r>
              <a:rPr lang="en-US" dirty="0"/>
              <a:t>: Different configurations for different environments (laptop vs cluster)</a:t>
            </a:r>
          </a:p>
          <a:p>
            <a:endParaRPr lang="en-US" dirty="0"/>
          </a:p>
          <a:p>
            <a:r>
              <a:rPr lang="en-US" dirty="0"/>
              <a:t>This separation allows the same pipeline to run across different infrastructure without code changes.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085EB4-79EB-8EF0-F251-72EB70D8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config files</a:t>
            </a:r>
          </a:p>
        </p:txBody>
      </p:sp>
      <p:pic>
        <p:nvPicPr>
          <p:cNvPr id="3074" name="Picture 2" descr="Oversee - May 22, 2016 Word Of The Day | Britannica Dictionary">
            <a:extLst>
              <a:ext uri="{FF2B5EF4-FFF2-40B4-BE49-F238E27FC236}">
                <a16:creationId xmlns:a16="http://schemas.microsoft.com/office/drawing/2014/main" id="{EAB5C093-D743-8EF5-753F-81CDEB863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93884"/>
            <a:ext cx="4334584" cy="3022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anual Icon Vector Art, Icons, and Graphics for Free Download">
            <a:extLst>
              <a:ext uri="{FF2B5EF4-FFF2-40B4-BE49-F238E27FC236}">
                <a16:creationId xmlns:a16="http://schemas.microsoft.com/office/drawing/2014/main" id="{41F8F46F-0A04-AAB2-1EFE-A68F2CDDE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1508" y="669604"/>
            <a:ext cx="431149" cy="53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9215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4570412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Containers</a:t>
            </a:r>
            <a:endParaRPr lang="en-US" sz="5400" dirty="0">
              <a:latin typeface="Helvetica" pitchFamily="2" charset="0"/>
            </a:endParaRPr>
          </a:p>
        </p:txBody>
      </p:sp>
      <p:pic>
        <p:nvPicPr>
          <p:cNvPr id="1026" name="Picture 2" descr="Software - Free computer icons">
            <a:extLst>
              <a:ext uri="{FF2B5EF4-FFF2-40B4-BE49-F238E27FC236}">
                <a16:creationId xmlns:a16="http://schemas.microsoft.com/office/drawing/2014/main" id="{90307FDE-986B-CAFD-B54C-EAD152D20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40329"/>
            <a:ext cx="1248229" cy="1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AF49B-F4D4-672E-CBAC-B59D767AF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3F50-ADB6-FEBA-66C6-B06489CA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The dependency problem</a:t>
            </a:r>
          </a:p>
        </p:txBody>
      </p:sp>
      <p:pic>
        <p:nvPicPr>
          <p:cNvPr id="3074" name="Picture 2" descr="Comprehensive Guide to Dependency Management in Python | Towards Data  Science">
            <a:extLst>
              <a:ext uri="{FF2B5EF4-FFF2-40B4-BE49-F238E27FC236}">
                <a16:creationId xmlns:a16="http://schemas.microsoft.com/office/drawing/2014/main" id="{B69F3160-5F2F-5AD0-786A-CD86791F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175" y="1851789"/>
            <a:ext cx="8763000" cy="4561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772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65C6-6F3E-E159-BCCB-BF81A976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7C3F9-71A8-FC24-43BA-7CEEF829E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E2760-694B-59C8-C3B1-C3202ED4722D}"/>
              </a:ext>
            </a:extLst>
          </p:cNvPr>
          <p:cNvSpPr txBox="1"/>
          <p:nvPr/>
        </p:nvSpPr>
        <p:spPr>
          <a:xfrm>
            <a:off x="838200" y="1442549"/>
            <a:ext cx="640546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</a:t>
            </a:r>
            <a:r>
              <a:rPr lang="en-US" b="1" dirty="0"/>
              <a:t>have to</a:t>
            </a:r>
            <a:r>
              <a:rPr lang="en-US" dirty="0"/>
              <a:t> use containers when: </a:t>
            </a:r>
          </a:p>
          <a:p>
            <a:pPr marL="285750" indent="-285750">
              <a:buFontTx/>
              <a:buChar char="-"/>
            </a:pPr>
            <a:r>
              <a:rPr lang="en-US" dirty="0"/>
              <a:t>extremely complex dependencies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require a specific operating system configuration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guarantee that analysis will run identically on any system — not just Hazel</a:t>
            </a:r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should generally use containers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A container is like a complete mini-computer: 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Operating system</a:t>
            </a:r>
          </a:p>
          <a:p>
            <a:pPr marL="285750" indent="-285750">
              <a:buFontTx/>
              <a:buChar char="-"/>
            </a:pPr>
            <a:r>
              <a:rPr lang="en-US" dirty="0"/>
              <a:t>Libraries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Software</a:t>
            </a:r>
          </a:p>
          <a:p>
            <a:r>
              <a:rPr lang="en-US" dirty="0"/>
              <a:t>You don't install the software — you just run the container.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E3C14-0703-76A5-5414-7B911F52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28" y="1590990"/>
            <a:ext cx="6165273" cy="42814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DAD4BC-53FB-4FAA-3690-291FDBF2CEFE}"/>
              </a:ext>
            </a:extLst>
          </p:cNvPr>
          <p:cNvSpPr txBox="1"/>
          <p:nvPr/>
        </p:nvSpPr>
        <p:spPr>
          <a:xfrm>
            <a:off x="838200" y="5503098"/>
            <a:ext cx="448872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portable, versioned, immutable environments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14F417-8C7D-B8FB-7332-A2FC0621A712}"/>
              </a:ext>
            </a:extLst>
          </p:cNvPr>
          <p:cNvSpPr txBox="1"/>
          <p:nvPr/>
        </p:nvSpPr>
        <p:spPr>
          <a:xfrm>
            <a:off x="838200" y="6020871"/>
            <a:ext cx="830547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An analysis is not just a script — it is a script plus the exact environment in which it run</a:t>
            </a:r>
          </a:p>
        </p:txBody>
      </p:sp>
    </p:spTree>
    <p:extLst>
      <p:ext uri="{BB962C8B-B14F-4D97-AF65-F5344CB8AC3E}">
        <p14:creationId xmlns:p14="http://schemas.microsoft.com/office/powerpoint/2010/main" val="2364049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7E178-611C-4A10-AB68-2E8C2C7D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8F1C3-1BB9-9B74-0597-520B1FC41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Singularity vs. docker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61FA9-7AF1-DC19-E5DD-5BA7E6730003}"/>
              </a:ext>
            </a:extLst>
          </p:cNvPr>
          <p:cNvSpPr txBox="1"/>
          <p:nvPr/>
        </p:nvSpPr>
        <p:spPr>
          <a:xfrm>
            <a:off x="1040495" y="4948291"/>
            <a:ext cx="4711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dominant container platform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likely to encounter in tutorials, documentation, and online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images are stored in registries(Docker Hub and the </a:t>
            </a:r>
            <a:r>
              <a:rPr lang="en-US" dirty="0" err="1"/>
              <a:t>Biocontainers</a:t>
            </a:r>
            <a:r>
              <a:rPr lang="en-US" dirty="0"/>
              <a:t>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412E8-21E2-61B4-F2FD-5F0A010D0509}"/>
              </a:ext>
            </a:extLst>
          </p:cNvPr>
          <p:cNvSpPr txBox="1"/>
          <p:nvPr/>
        </p:nvSpPr>
        <p:spPr>
          <a:xfrm>
            <a:off x="6439788" y="4948291"/>
            <a:ext cx="110668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HPC clusters: Docker requires root privileges.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needing administrator access.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also directly run Docker images</a:t>
            </a:r>
          </a:p>
        </p:txBody>
      </p:sp>
      <p:pic>
        <p:nvPicPr>
          <p:cNvPr id="4098" name="Picture 2" descr="Docker Logo and symbol, meaning, history, PNG, brand">
            <a:extLst>
              <a:ext uri="{FF2B5EF4-FFF2-40B4-BE49-F238E27FC236}">
                <a16:creationId xmlns:a16="http://schemas.microsoft.com/office/drawing/2014/main" id="{BD41C810-FE27-8401-204E-378BA6EC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744" y="2165459"/>
            <a:ext cx="4103219" cy="2308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pptainer - Portable, Reproducible Containers">
            <a:extLst>
              <a:ext uri="{FF2B5EF4-FFF2-40B4-BE49-F238E27FC236}">
                <a16:creationId xmlns:a16="http://schemas.microsoft.com/office/drawing/2014/main" id="{7EB3E702-EF5A-9AEC-6839-E491F44BD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0438" y="2906888"/>
            <a:ext cx="5143500" cy="157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050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2205</TotalTime>
  <Words>1374</Words>
  <Application>Microsoft Macintosh PowerPoint</Application>
  <PresentationFormat>Widescreen</PresentationFormat>
  <Paragraphs>198</Paragraphs>
  <Slides>24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Access to SLURM based HPC?</vt:lpstr>
      <vt:lpstr>Why pipeline managers?</vt:lpstr>
      <vt:lpstr>Why pipeline managers?</vt:lpstr>
      <vt:lpstr>Why Nextflow?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  <vt:lpstr>Nextflow components: config files</vt:lpstr>
      <vt:lpstr>PowerPoint Presentation</vt:lpstr>
      <vt:lpstr>The dependency problem</vt:lpstr>
      <vt:lpstr>Introduction to containers</vt:lpstr>
      <vt:lpstr>Singularity vs. docker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17</cp:revision>
  <dcterms:created xsi:type="dcterms:W3CDTF">2026-08-19T19:55:00Z</dcterms:created>
  <dcterms:modified xsi:type="dcterms:W3CDTF">2026-09-30T15:20:52Z</dcterms:modified>
</cp:coreProperties>
</file>