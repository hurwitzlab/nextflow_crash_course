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media/image7.png" ContentType="image/jpe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73" r:id="rId3"/>
    <p:sldId id="274" r:id="rId4"/>
    <p:sldId id="257" r:id="rId5"/>
    <p:sldId id="259" r:id="rId6"/>
    <p:sldId id="258" r:id="rId7"/>
    <p:sldId id="260" r:id="rId8"/>
    <p:sldId id="271" r:id="rId9"/>
    <p:sldId id="270" r:id="rId10"/>
    <p:sldId id="272" r:id="rId11"/>
    <p:sldId id="276" r:id="rId12"/>
    <p:sldId id="282" r:id="rId13"/>
    <p:sldId id="275" r:id="rId14"/>
    <p:sldId id="281" r:id="rId15"/>
    <p:sldId id="27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9001"/>
    <a:srgbClr val="05BE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113"/>
    <p:restoredTop sz="94710"/>
  </p:normalViewPr>
  <p:slideViewPr>
    <p:cSldViewPr snapToGrid="0">
      <p:cViewPr varScale="1">
        <p:scale>
          <a:sx n="113" d="100"/>
          <a:sy n="113" d="100"/>
        </p:scale>
        <p:origin x="131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C84A49-CA76-E84D-B4CB-59BA5B0597A2}" type="datetimeFigureOut">
              <a:rPr lang="en-US" smtClean="0"/>
              <a:t>8/21/26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7EA08E-C47D-AB46-A93F-BAC6507A6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128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EA08E-C47D-AB46-A93F-BAC6507A654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0299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39252-1C1E-877E-CA1C-31B4847566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039EF6-6E96-6AA4-5166-F466F7F370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F429BF-3C4E-F3FB-E5A5-21C39B9F8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AEF7A-E919-29E3-D6A9-57C0931BE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E752C-FD82-5D96-63A5-496334AF2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274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B4AE1C-A8FE-D670-51AB-B63B42FC3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CD212-9284-B438-C41A-7F8EBAEB5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55EB67-BDF5-063A-B7BE-71655FAD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DFC6A-48E9-2C1E-1F15-74E703780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C66C5-732F-6C58-C5F2-D5A9EE6A1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0344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7A413-9A8A-D796-D901-035FDBBDC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6632B2-A29A-D01C-4763-ACD29917CA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326F58-1985-7F5D-A1B8-620F73D8D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7D4936-3DA4-0948-00DE-432157D9A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6AC5E4-87DE-61B6-2386-313112610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5513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BEBF2-40DF-6C9D-2E14-DC1F65EDD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311C8-1407-06C2-5B60-C3F05CD649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C4743-BDC6-654D-6002-6CA1976A97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B7BCC0-16FC-0A21-BE48-1FA9E3D34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9308F8-324E-7325-34F7-4676612AA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DF94DC-FBBA-2789-F655-D279E1B4A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508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552CC-E2FB-1CD2-AF98-447E932A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2C6A31-13EC-6931-ABBC-86E80B218B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176CB6-1CE4-55BB-4218-EF597DC1E0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314BCB-A59B-1B5F-36A1-3EB20F93E6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861C3-99CD-ED19-D53A-F8E42D834E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30FEDA-78F1-91F2-C7D3-7EBBE6FEA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02A22E-9A11-09FB-801B-1B8A44A13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F0F7CC-4544-85CD-E686-2988544AA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205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BBE36-D59D-4310-B622-2C63E7517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7491CC-D05A-16D1-4351-C6714022C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080A09-F2E3-502B-8C98-A63F5391A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46AE9D-A806-36C4-F170-193DEB71F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651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EE023D-651F-ADBA-DBF3-6ABC88A8F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E9E4DC-45DC-4EE4-3647-8682785A4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1CD55-1121-74CC-B567-042592C21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828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39AFF-B504-D78D-A341-1A90DE3DA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EE24B-122B-44ED-9619-358742B73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995ED-283C-F06D-9938-2436E237E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5FF4C4-0E0E-40AC-AC48-67D1A3113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EA048B-4E2D-7C4C-EA2F-099867186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DA4D91-075A-CB52-5241-518D5B26C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012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82104-FB01-8607-E364-923EED42B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6C7EC0-8995-5DC3-F61A-637D7E0C43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084182-E01B-585B-5E6C-16B56DB5F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B67520-82E8-AA2D-B936-7D52A9E74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FA7FA4-1A79-A035-D330-76AE5A701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39E70E-3A32-407E-5BD4-F41019A79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334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292C2-5B65-D43E-705C-DEF74EA5F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9DDB77-3993-6612-D3E6-F9F01FDFE1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6C9F5A-2FD4-F23F-A991-16389A1E1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403651-51F9-80F8-0864-3F787CC27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CBE5D7-C46B-C68D-484A-7EB1D244B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445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53FC6B-AB01-FC68-B96C-908798AFC2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5470D6-1D63-2D3F-7E7F-95AD1F1129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6FA32A-1110-CF58-C212-F1D891BF0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C7F38E-34DA-4D9A-5BF1-CCB461682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38FF2-55B7-45CF-3604-A52F731C7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046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CC9324-9CD6-AA7D-7F59-DA026A07F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41B51F-0D23-21F8-38CF-D6F837E013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AEC808-6F79-B0F8-C600-1A2055FEBF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83935-07C3-DB40-BDCF-E55515B19C93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B801D-262B-E276-115D-AF36F9EC85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B55DC-F2D6-27C8-C5FA-2CFBCB861D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321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DF3AD32-1F0F-9CEC-3E2C-06972B53A20D}"/>
              </a:ext>
            </a:extLst>
          </p:cNvPr>
          <p:cNvSpPr txBox="1"/>
          <p:nvPr/>
        </p:nvSpPr>
        <p:spPr>
          <a:xfrm>
            <a:off x="1497795" y="1862666"/>
            <a:ext cx="570457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dirty="0">
                <a:solidFill>
                  <a:srgbClr val="C00000"/>
                </a:solidFill>
                <a:latin typeface="Helvetica" pitchFamily="2" charset="0"/>
              </a:rPr>
              <a:t>BRC’s</a:t>
            </a:r>
          </a:p>
          <a:p>
            <a:r>
              <a:rPr lang="en-US" sz="9600" dirty="0" err="1">
                <a:latin typeface="Helvetica" pitchFamily="2" charset="0"/>
              </a:rPr>
              <a:t>Nextflow</a:t>
            </a:r>
            <a:endParaRPr lang="en-US" sz="9600" dirty="0">
              <a:latin typeface="Helvetica" pitchFamily="2" charset="0"/>
            </a:endParaRPr>
          </a:p>
          <a:p>
            <a:r>
              <a:rPr lang="en-US" sz="9600" dirty="0">
                <a:latin typeface="Helvetica" pitchFamily="2" charset="0"/>
              </a:rPr>
              <a:t>Workshop</a:t>
            </a:r>
          </a:p>
        </p:txBody>
      </p:sp>
      <p:pic>
        <p:nvPicPr>
          <p:cNvPr id="7" name="Picture 6" descr="GitHub - nextflow-io/nextflow: A DSL for data-driven computational  pipelines · GitHub">
            <a:extLst>
              <a:ext uri="{FF2B5EF4-FFF2-40B4-BE49-F238E27FC236}">
                <a16:creationId xmlns:a16="http://schemas.microsoft.com/office/drawing/2014/main" id="{DA94C7D1-5142-F524-0DC3-F8532D5DE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341" y="-938043"/>
            <a:ext cx="6570132" cy="657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2508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39672-E7F5-1723-B190-A3D07B73B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B3222-58DD-375B-1D58-C6FD304DA7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480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6CF97-2D22-8E1E-3F34-B27E93D76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6EF45-3CB5-FC67-9990-ADE3E6E83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2894A-4E57-70B8-6548-52FDF58AC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202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03F79-2F95-3158-DFA6-6DFB9F782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pipeline managers?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B2870D-4349-23A3-7C10-D6CE70E428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258" r="41550"/>
          <a:stretch>
            <a:fillRect/>
          </a:stretch>
        </p:blipFill>
        <p:spPr>
          <a:xfrm>
            <a:off x="4807901" y="2300556"/>
            <a:ext cx="3407979" cy="44535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117815-654B-293F-0DA7-11FD4528481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543" r="41253"/>
          <a:stretch>
            <a:fillRect/>
          </a:stretch>
        </p:blipFill>
        <p:spPr>
          <a:xfrm>
            <a:off x="8429146" y="611276"/>
            <a:ext cx="3762854" cy="61428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C7B636B-C0AF-74A9-D69D-19C76FE9D7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248" y="3326601"/>
            <a:ext cx="3993425" cy="3384903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9F1C2ACF-5C8F-3245-3F17-9597FFEFCA31}"/>
              </a:ext>
            </a:extLst>
          </p:cNvPr>
          <p:cNvSpPr/>
          <p:nvPr/>
        </p:nvSpPr>
        <p:spPr>
          <a:xfrm>
            <a:off x="950319" y="3427027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A9197D6-011F-057E-2545-669A6EFA93BC}"/>
              </a:ext>
            </a:extLst>
          </p:cNvPr>
          <p:cNvSpPr/>
          <p:nvPr/>
        </p:nvSpPr>
        <p:spPr>
          <a:xfrm>
            <a:off x="5192990" y="2415645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A47EEB1-E05E-2796-7C8B-E0735470E922}"/>
              </a:ext>
            </a:extLst>
          </p:cNvPr>
          <p:cNvSpPr/>
          <p:nvPr/>
        </p:nvSpPr>
        <p:spPr>
          <a:xfrm>
            <a:off x="8743003" y="734291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8D376DB-592C-2C99-8442-537614AB44C3}"/>
              </a:ext>
            </a:extLst>
          </p:cNvPr>
          <p:cNvSpPr/>
          <p:nvPr/>
        </p:nvSpPr>
        <p:spPr>
          <a:xfrm>
            <a:off x="799899" y="4426614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67DFA12-5111-4D35-768F-5B88535589B2}"/>
              </a:ext>
            </a:extLst>
          </p:cNvPr>
          <p:cNvSpPr/>
          <p:nvPr/>
        </p:nvSpPr>
        <p:spPr>
          <a:xfrm>
            <a:off x="5102190" y="3948632"/>
            <a:ext cx="1636572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67E165B-935C-A792-8D1A-6A4844CB5C35}"/>
              </a:ext>
            </a:extLst>
          </p:cNvPr>
          <p:cNvSpPr/>
          <p:nvPr/>
        </p:nvSpPr>
        <p:spPr>
          <a:xfrm>
            <a:off x="8674001" y="3760600"/>
            <a:ext cx="1636572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E1105A-6A7E-46E5-55D6-D0668CD365B9}"/>
              </a:ext>
            </a:extLst>
          </p:cNvPr>
          <p:cNvSpPr txBox="1"/>
          <p:nvPr/>
        </p:nvSpPr>
        <p:spPr>
          <a:xfrm>
            <a:off x="950319" y="1533957"/>
            <a:ext cx="210128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5BE99"/>
                </a:solidFill>
              </a:rPr>
              <a:t>Reproducibility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5BE99"/>
                </a:solidFill>
              </a:rPr>
              <a:t>Scalability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5BE99"/>
                </a:solidFill>
              </a:rPr>
              <a:t>Resumability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5BE99"/>
                </a:solidFill>
              </a:rPr>
              <a:t>Portability</a:t>
            </a:r>
          </a:p>
        </p:txBody>
      </p:sp>
    </p:spTree>
    <p:extLst>
      <p:ext uri="{BB962C8B-B14F-4D97-AF65-F5344CB8AC3E}">
        <p14:creationId xmlns:p14="http://schemas.microsoft.com/office/powerpoint/2010/main" val="3041575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F7E96-FE70-D22B-728F-D70B24A20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9EC32-4961-26B6-1CBB-B03560143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managers</a:t>
            </a:r>
          </a:p>
        </p:txBody>
      </p:sp>
      <p:pic>
        <p:nvPicPr>
          <p:cNvPr id="4" name="Picture 3" descr="Bioinformatics Tools: Nextflow &amp; SnakeMake — — How they are integrated with  CI/CD pipeline | by MarinaYutingS | Medium">
            <a:extLst>
              <a:ext uri="{FF2B5EF4-FFF2-40B4-BE49-F238E27FC236}">
                <a16:creationId xmlns:a16="http://schemas.microsoft.com/office/drawing/2014/main" id="{D63B8BC4-A23C-F2A8-0629-3866F8A231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446" y="1690688"/>
            <a:ext cx="3791559" cy="1161499"/>
          </a:xfrm>
          <a:prstGeom prst="rect">
            <a:avLst/>
          </a:prstGeom>
        </p:spPr>
      </p:pic>
      <p:pic>
        <p:nvPicPr>
          <p:cNvPr id="5" name="Picture 4" descr="GitHub - nextflow-io/nextflow: A DSL for data-driven computational  pipelines · GitHub">
            <a:extLst>
              <a:ext uri="{FF2B5EF4-FFF2-40B4-BE49-F238E27FC236}">
                <a16:creationId xmlns:a16="http://schemas.microsoft.com/office/drawing/2014/main" id="{BA116F7A-C0BC-C0C6-6B69-98848A599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4575" y="1309476"/>
            <a:ext cx="3904207" cy="1952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615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170CD-3286-17E1-7A45-EC134E8F1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Nextflow</a:t>
            </a:r>
            <a:r>
              <a:rPr lang="en-US" dirty="0"/>
              <a:t>?</a:t>
            </a:r>
          </a:p>
        </p:txBody>
      </p:sp>
      <p:pic>
        <p:nvPicPr>
          <p:cNvPr id="5" name="Picture 4" descr="GitHub - nextflow-io/nextflow: A DSL for data-driven computational  pipelines · GitHub">
            <a:extLst>
              <a:ext uri="{FF2B5EF4-FFF2-40B4-BE49-F238E27FC236}">
                <a16:creationId xmlns:a16="http://schemas.microsoft.com/office/drawing/2014/main" id="{BA2AA113-0B2D-413D-F5D3-6133DDFD2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4575" y="1309476"/>
            <a:ext cx="3904207" cy="1952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288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D8B8A-6420-D4CC-D98C-6A20CE2FE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AD3CE-7C37-BFFF-26DF-8F907F2E6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2951" y="2337974"/>
            <a:ext cx="10515600" cy="1325563"/>
          </a:xfrm>
        </p:spPr>
        <p:txBody>
          <a:bodyPr/>
          <a:lstStyle/>
          <a:p>
            <a:r>
              <a:rPr lang="en-US" dirty="0"/>
              <a:t>Access to SLURM based HPC?</a:t>
            </a:r>
          </a:p>
        </p:txBody>
      </p:sp>
    </p:spTree>
    <p:extLst>
      <p:ext uri="{BB962C8B-B14F-4D97-AF65-F5344CB8AC3E}">
        <p14:creationId xmlns:p14="http://schemas.microsoft.com/office/powerpoint/2010/main" val="1180560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CC2B0-950A-A123-55DF-07264846E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EBC9542C-7772-27E3-E106-3EAB36F5A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Today’s pipeline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E912C6-A6BC-4D81-0DC5-DC4E395878FB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A7D47F-61F1-8D52-F3C4-3CA505313892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698C0B-8AB4-64D5-61F6-FD1BB9E12301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7260F-4464-776B-281A-B6BB57E58C4C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D3E569-A78D-7B1B-55D5-D2722AB80E8D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460B263-1364-C880-C61E-2B1CD9B040D1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90186B-A542-F2CE-27B6-4DE80484CE9F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0373973-C1C6-F38C-6D21-D1089F6D3AC6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86F998E-2E10-F9A6-F8D8-C3C5B981127A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EDF1700-0AD7-32E9-C46D-3576DAF27BF8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66D293-4A4C-10AE-465B-1C03EAF26642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CB62E0-7A4B-911A-64E2-1FA61E225D3A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D1B1040-2508-0B72-DE10-2F519BC26D97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7D9BC66-9479-BF15-4E79-E44A8B91823B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9A2500-D9DB-4407-D2F1-C09BBB6B1580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FC73723-363B-8B86-5EDB-C90B85833047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1FE3AF-4F86-2D20-4B6C-A4EB234A7FF4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Our Top 5 Quality Control (QC) Metrics Every NGS User Should Know">
            <a:extLst>
              <a:ext uri="{FF2B5EF4-FFF2-40B4-BE49-F238E27FC236}">
                <a16:creationId xmlns:a16="http://schemas.microsoft.com/office/drawing/2014/main" id="{41A3B43E-5BC1-54D0-642F-B1C6595BAB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900" y="4508019"/>
            <a:ext cx="4481232" cy="221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300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E9E7D-34D7-E69A-60E0-2A1A2E83A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7E257-5254-58A5-D134-275D22ABB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processes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C895E0-3F1B-B147-6FFB-19BA5C8C1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accent2"/>
                </a:solidFill>
              </a:rPr>
              <a:t>Processes</a:t>
            </a:r>
            <a:r>
              <a:rPr lang="en-US" dirty="0"/>
              <a:t> are the basic computing units in </a:t>
            </a:r>
            <a:r>
              <a:rPr lang="en-US" dirty="0" err="1"/>
              <a:t>Nextflow</a:t>
            </a:r>
            <a:r>
              <a:rPr lang="en-US" dirty="0"/>
              <a:t>. Each process defines:</a:t>
            </a:r>
          </a:p>
          <a:p>
            <a:r>
              <a:rPr lang="en-US" b="1" dirty="0"/>
              <a:t>Inputs and outputs</a:t>
            </a:r>
            <a:r>
              <a:rPr lang="en-US" dirty="0"/>
              <a:t>: Data consumed and produced</a:t>
            </a:r>
          </a:p>
          <a:p>
            <a:r>
              <a:rPr lang="en-US" b="1" dirty="0"/>
              <a:t>Script</a:t>
            </a:r>
            <a:r>
              <a:rPr lang="en-US" dirty="0"/>
              <a:t>: The actual command or code to execute</a:t>
            </a:r>
          </a:p>
          <a:p>
            <a:r>
              <a:rPr lang="en-US" b="1" dirty="0"/>
              <a:t>Directives</a:t>
            </a:r>
            <a:r>
              <a:rPr lang="en-US" dirty="0"/>
              <a:t>: Resource requirements (CPU, memory, time)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Think of a process as a single step in your pipeline, like "align reads" or ”run inference tool”. Processes are isolated (</a:t>
            </a:r>
            <a:r>
              <a:rPr lang="en-US" b="1" dirty="0">
                <a:solidFill>
                  <a:schemeClr val="accent2"/>
                </a:solidFill>
              </a:rPr>
              <a:t>modules</a:t>
            </a:r>
            <a:r>
              <a:rPr lang="en-US" dirty="0"/>
              <a:t>)and can be executed independently, enabling parallelization. </a:t>
            </a:r>
          </a:p>
        </p:txBody>
      </p:sp>
      <p:pic>
        <p:nvPicPr>
          <p:cNvPr id="4098" name="Picture 2" descr="Manufacturing Factory Tool Icons - Free SVG &amp; PNG Manufacturing Factory Tool  Images - Noun Project">
            <a:extLst>
              <a:ext uri="{FF2B5EF4-FFF2-40B4-BE49-F238E27FC236}">
                <a16:creationId xmlns:a16="http://schemas.microsoft.com/office/drawing/2014/main" id="{CF13FCC3-795D-264A-652A-5CE31D9643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4461" y="585043"/>
            <a:ext cx="834020" cy="834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3298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D97CB-B8A2-C139-67D1-19D621A2F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336D5C8-7018-6AAC-AA60-DC2E2C108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Processes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EBEBF9-FD16-4830-389A-C0EE85FF218B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32FA45-5CE0-546E-8507-1E41FF311C28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3C6B10-0A5B-D19F-2051-E7A46BA24C95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4239F9-1627-FE39-63B3-2B78B5B17BA1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1C7A4E-08D3-7E28-8122-BCE11DC926B3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3B5712-BA3C-192F-AD9B-BF8DB8DBC49A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213401-9B8D-ADDA-CBFA-8FE8F9047E78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1783CE-1317-F7ED-B505-1B8527F88840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7695FAF-8D51-0A43-5988-FE4DD948F635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F318C63-FBF8-1C16-0D1E-69F765233998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1F81AC-7470-E110-D9DC-5BCBCE4B54D6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7F1F21-D721-A862-FE46-0460393EEC26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94EE73E-41EF-32E5-71EA-B3707C3BABFF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10864F-799A-B103-2368-6064039DA5C0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9D7B9D3-62D7-FB6F-B472-705F209A86AB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31E96CF-3BF5-D004-0616-BA655DA25C05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E7D50E7-1D26-31DE-4890-6E5529F8A095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2002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32AAA-C239-35F2-CE12-21EBCB259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88B60-9E6B-92A6-6C6B-088BD6F07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D7BE7F-B5C1-C7E9-4399-A95B68CF9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accent4">
                    <a:lumMod val="75000"/>
                  </a:schemeClr>
                </a:solidFill>
              </a:rPr>
              <a:t>Channels</a:t>
            </a:r>
            <a:r>
              <a:rPr lang="en-US" dirty="0"/>
              <a:t> are asynchronous queues that connect processes and handle data flow. They're </a:t>
            </a:r>
            <a:r>
              <a:rPr lang="en-US" dirty="0" err="1"/>
              <a:t>Nextflow's</a:t>
            </a:r>
            <a:r>
              <a:rPr lang="en-US" dirty="0"/>
              <a:t> way of passing data between processes. Key types:</a:t>
            </a:r>
          </a:p>
          <a:p>
            <a:r>
              <a:rPr lang="en-US" b="1" dirty="0"/>
              <a:t>Queue channels</a:t>
            </a:r>
            <a:r>
              <a:rPr lang="en-US" dirty="0"/>
              <a:t>: Consumed once, ideal for streaming data</a:t>
            </a:r>
          </a:p>
          <a:p>
            <a:r>
              <a:rPr lang="en-US" b="1" dirty="0"/>
              <a:t>Value channels</a:t>
            </a:r>
            <a:r>
              <a:rPr lang="en-US" dirty="0"/>
              <a:t>: Can be read multiple times, useful for reference files and databases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Channels enable parallel processing when multiple data items flow through the pipeline.</a:t>
            </a:r>
          </a:p>
        </p:txBody>
      </p:sp>
      <p:pic>
        <p:nvPicPr>
          <p:cNvPr id="2050" name="Picture 2" descr="Conveyor Belt Icon Style 7246936 Vector Art at Vecteezy">
            <a:extLst>
              <a:ext uri="{FF2B5EF4-FFF2-40B4-BE49-F238E27FC236}">
                <a16:creationId xmlns:a16="http://schemas.microsoft.com/office/drawing/2014/main" id="{1575CC90-6DA8-21E2-58ED-4F945AA8B7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0962" y="230188"/>
            <a:ext cx="1460500" cy="146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74170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A5EFD-99C1-E921-F08C-47D76A612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E14E91D-D938-80ED-EE1D-71AAD9F44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Processes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8FDC0B-339B-AD2D-0F58-A88995B41BE7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rgbClr val="BF900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28853F-76CD-1E30-F08D-A11DC71CA173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43CF5DC-DEB6-9EF8-49FE-5B46FCCCC0FE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965C719-070A-9148-F0BE-078722611EC0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5C68A6C-031C-4548-16AA-58AB4BFA783B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9A2FC42-3B72-94AC-37D3-34B4A7B1118B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8F641D-6BB5-3E16-1F4E-A7F101DEEB63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B5E225D-FDB9-488A-7300-3E45B8DEA129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82502B5-0967-62B7-F523-645F9109E5DC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F6CC4E19-C4F6-B8A6-7C53-3DAC79259A66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FFA3C34-A3A8-69EE-033B-B5F6BF87DCDD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BC0FE40-305D-74DF-49AB-5E79D2599656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0BEF8B5-7302-E652-D133-BF79E736934C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DBB3D7B-248A-AA49-4272-3E8CC26F678F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B57B62A-CCFC-A084-8FA8-EC849087F0DB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CE1E2EF-A89A-E4A5-2FA5-45A460B532EF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AA8370A-F25F-B894-668C-5EF82B503CAE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2EA8736-55C8-5CFE-B7F6-5ADFFA5C2651}"/>
              </a:ext>
            </a:extLst>
          </p:cNvPr>
          <p:cNvSpPr txBox="1"/>
          <p:nvPr/>
        </p:nvSpPr>
        <p:spPr>
          <a:xfrm>
            <a:off x="507056" y="4508019"/>
            <a:ext cx="66091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Reads = 1 channel</a:t>
            </a:r>
          </a:p>
          <a:p>
            <a:r>
              <a:rPr lang="en-US" dirty="0"/>
              <a:t>Channel gets created when we need to initiate or modify a data flow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27E8CE-D22C-9703-04E7-B46D0FDF8DEE}"/>
              </a:ext>
            </a:extLst>
          </p:cNvPr>
          <p:cNvSpPr txBox="1"/>
          <p:nvPr/>
        </p:nvSpPr>
        <p:spPr>
          <a:xfrm>
            <a:off x="298826" y="6060119"/>
            <a:ext cx="9103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Channels – not only data, but also a logic behind how data is going to flow through the pipeline</a:t>
            </a:r>
          </a:p>
        </p:txBody>
      </p:sp>
    </p:spTree>
    <p:extLst>
      <p:ext uri="{BB962C8B-B14F-4D97-AF65-F5344CB8AC3E}">
        <p14:creationId xmlns:p14="http://schemas.microsoft.com/office/powerpoint/2010/main" val="4280788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30D0A-EFC7-E604-4797-27EFE0CD9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E025B-6EFB-C1F8-F10F-F49939B2E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workflows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0A44D-B6A5-5208-9EE8-7C55FA293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accent5"/>
                </a:solidFill>
              </a:rPr>
              <a:t>Workflows</a:t>
            </a:r>
            <a:r>
              <a:rPr lang="en-US" dirty="0"/>
              <a:t> orchestrate how processes connect and execute. They define:</a:t>
            </a:r>
          </a:p>
          <a:p>
            <a:r>
              <a:rPr lang="en-US" dirty="0"/>
              <a:t>The order and dependencies between processes</a:t>
            </a:r>
          </a:p>
          <a:p>
            <a:r>
              <a:rPr lang="en-US" dirty="0"/>
              <a:t>How data flows from one process to another</a:t>
            </a:r>
          </a:p>
          <a:p>
            <a:r>
              <a:rPr lang="en-US" dirty="0"/>
              <a:t>Conditional execution logic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workflow composes multiple processes into a complete data analysis pipeline.</a:t>
            </a:r>
          </a:p>
        </p:txBody>
      </p:sp>
      <p:pic>
        <p:nvPicPr>
          <p:cNvPr id="3074" name="Picture 2" descr="Floor plan - Free buildings icons">
            <a:extLst>
              <a:ext uri="{FF2B5EF4-FFF2-40B4-BE49-F238E27FC236}">
                <a16:creationId xmlns:a16="http://schemas.microsoft.com/office/drawing/2014/main" id="{E0AFBA6D-38EF-DF3F-B32F-B09C3C546E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2922" y="509286"/>
            <a:ext cx="1038065" cy="1038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13545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009F4-010A-5D70-CA6A-D0AA9A1B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AEE21A41-5CCE-BF3D-34F8-BE9F217F2891}"/>
              </a:ext>
            </a:extLst>
          </p:cNvPr>
          <p:cNvSpPr txBox="1"/>
          <p:nvPr/>
        </p:nvSpPr>
        <p:spPr>
          <a:xfrm>
            <a:off x="925364" y="1690688"/>
            <a:ext cx="549955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C00000"/>
                </a:solidFill>
              </a:rPr>
              <a:t>work/ </a:t>
            </a:r>
            <a:r>
              <a:rPr lang="en-US" dirty="0"/>
              <a:t>is where </a:t>
            </a:r>
            <a:r>
              <a:rPr lang="en-US" b="1" dirty="0"/>
              <a:t>all the actual execution happens</a:t>
            </a:r>
            <a:r>
              <a:rPr lang="en-US" dirty="0"/>
              <a:t>. Every process runs in its own isolated subdirectory within work/.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Contains temporary files and logs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cryptic hash subdirectories (e.g., work/a3/f2d8e9...)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Should be cleaned periodically but useful for debugging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Usually not where you want your final results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Allows to </a:t>
            </a:r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–resume </a:t>
            </a:r>
            <a:r>
              <a:rPr lang="en-US" dirty="0"/>
              <a:t>pipeline at different stages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Important for troubleshooting</a:t>
            </a:r>
            <a:r>
              <a:rPr lang="en-US" dirty="0"/>
              <a:t>: When something fails, the error message tells you which work subdirectory to check.</a:t>
            </a:r>
          </a:p>
          <a:p>
            <a:endParaRPr lang="en-US" dirty="0"/>
          </a:p>
          <a:p>
            <a:r>
              <a:rPr lang="en-US" sz="1600" b="1" dirty="0"/>
              <a:t>The conveyor belt (channel) doesn't carry the actual products through the customer-facing factory floor</a:t>
            </a:r>
            <a:r>
              <a:rPr lang="en-US" sz="1600" dirty="0"/>
              <a:t> - it carries instructions about where to find them in the workshop!</a:t>
            </a:r>
          </a:p>
          <a:p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B77EEF3-8889-EB33-D27E-3F77D73D1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work directory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41CA3CA-489D-B6C8-49AD-4C308DB0A1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8049" y="2157721"/>
            <a:ext cx="4410894" cy="289217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F7D7772-1DCF-BBB2-F068-BAD2D977C2B2}"/>
              </a:ext>
            </a:extLst>
          </p:cNvPr>
          <p:cNvSpPr txBox="1"/>
          <p:nvPr/>
        </p:nvSpPr>
        <p:spPr>
          <a:xfrm>
            <a:off x="7112000" y="5159945"/>
            <a:ext cx="424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Each hash subdirectory (like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</a:rPr>
              <a:t>a3/f2d8e9...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 represents </a:t>
            </a:r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one task execution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- one sample going through one process.</a:t>
            </a:r>
          </a:p>
        </p:txBody>
      </p:sp>
      <p:pic>
        <p:nvPicPr>
          <p:cNvPr id="3076" name="Picture 4" descr="Black line icon for storage room 42725354 Vector Art at Vecteezy">
            <a:extLst>
              <a:ext uri="{FF2B5EF4-FFF2-40B4-BE49-F238E27FC236}">
                <a16:creationId xmlns:a16="http://schemas.microsoft.com/office/drawing/2014/main" id="{F1AEF158-55D7-D9DC-3F3D-5A13B5FF9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7210" y="647074"/>
            <a:ext cx="635365" cy="635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60928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 descr="Industrial conveyor belt line vector illustration. Conveyor process  abstract machine production Stock Vector Image &amp; Art - Alamy">
            <a:extLst>
              <a:ext uri="{FF2B5EF4-FFF2-40B4-BE49-F238E27FC236}">
                <a16:creationId xmlns:a16="http://schemas.microsoft.com/office/drawing/2014/main" id="{5B846E23-333C-EC1B-6E34-8636F94E9D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962"/>
          <a:stretch>
            <a:fillRect/>
          </a:stretch>
        </p:blipFill>
        <p:spPr bwMode="auto">
          <a:xfrm>
            <a:off x="2208172" y="1241529"/>
            <a:ext cx="8232193" cy="437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3EBE1959-0A4E-237E-64F3-F30C5C3AB922}"/>
              </a:ext>
            </a:extLst>
          </p:cNvPr>
          <p:cNvSpPr/>
          <p:nvPr/>
        </p:nvSpPr>
        <p:spPr>
          <a:xfrm>
            <a:off x="2208171" y="3044142"/>
            <a:ext cx="2978631" cy="257232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BC98E-B37A-DA70-9929-7E21645409FA}"/>
              </a:ext>
            </a:extLst>
          </p:cNvPr>
          <p:cNvSpPr txBox="1"/>
          <p:nvPr/>
        </p:nvSpPr>
        <p:spPr>
          <a:xfrm>
            <a:off x="1179450" y="3428999"/>
            <a:ext cx="14480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Processes </a:t>
            </a:r>
            <a:r>
              <a:rPr lang="en-US" dirty="0"/>
              <a:t>(tools, factory stations)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B2DFB6-66E8-71F3-714E-BBBA2AC625F5}"/>
              </a:ext>
            </a:extLst>
          </p:cNvPr>
          <p:cNvSpPr txBox="1"/>
          <p:nvPr/>
        </p:nvSpPr>
        <p:spPr>
          <a:xfrm>
            <a:off x="4698697" y="555457"/>
            <a:ext cx="3251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Workflow</a:t>
            </a:r>
            <a:r>
              <a:rPr lang="en-US" dirty="0"/>
              <a:t> (logic, factory plan)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52505B3-8FB4-B96B-55F4-630EDFF6CC74}"/>
              </a:ext>
            </a:extLst>
          </p:cNvPr>
          <p:cNvSpPr/>
          <p:nvPr/>
        </p:nvSpPr>
        <p:spPr>
          <a:xfrm>
            <a:off x="5425933" y="2083443"/>
            <a:ext cx="2051312" cy="221544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2A438F05-38E5-12B8-AAD5-3063E2A4AAA4}"/>
              </a:ext>
            </a:extLst>
          </p:cNvPr>
          <p:cNvSpPr/>
          <p:nvPr/>
        </p:nvSpPr>
        <p:spPr>
          <a:xfrm rot="16200000">
            <a:off x="5944232" y="-2705692"/>
            <a:ext cx="303535" cy="7775658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164923-0666-18DF-DD14-76912076C831}"/>
              </a:ext>
            </a:extLst>
          </p:cNvPr>
          <p:cNvSpPr/>
          <p:nvPr/>
        </p:nvSpPr>
        <p:spPr>
          <a:xfrm>
            <a:off x="5186801" y="4298885"/>
            <a:ext cx="5253563" cy="1710237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4CBF7F-D725-7413-DAD3-09016AB6F0A1}"/>
              </a:ext>
            </a:extLst>
          </p:cNvPr>
          <p:cNvSpPr txBox="1"/>
          <p:nvPr/>
        </p:nvSpPr>
        <p:spPr>
          <a:xfrm>
            <a:off x="6451589" y="6044519"/>
            <a:ext cx="3251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Channels </a:t>
            </a:r>
            <a:r>
              <a:rPr lang="en-US" dirty="0"/>
              <a:t>(conveyor belts)</a:t>
            </a:r>
          </a:p>
        </p:txBody>
      </p:sp>
    </p:spTree>
    <p:extLst>
      <p:ext uri="{BB962C8B-B14F-4D97-AF65-F5344CB8AC3E}">
        <p14:creationId xmlns:p14="http://schemas.microsoft.com/office/powerpoint/2010/main" val="4078347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/>
      <p:bldP spid="6" grpId="0" animBg="1"/>
      <p:bldP spid="7" grpId="0" animBg="1"/>
      <p:bldP spid="8" grpId="0" animBg="1"/>
      <p:bldP spid="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</TotalTime>
  <Words>467</Words>
  <Application>Microsoft Macintosh PowerPoint</Application>
  <PresentationFormat>Widescreen</PresentationFormat>
  <Paragraphs>82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Calibri Light</vt:lpstr>
      <vt:lpstr>Courier New</vt:lpstr>
      <vt:lpstr>Helvetica</vt:lpstr>
      <vt:lpstr>Menlo</vt:lpstr>
      <vt:lpstr>Office Theme</vt:lpstr>
      <vt:lpstr>PowerPoint Presentation</vt:lpstr>
      <vt:lpstr>Plan</vt:lpstr>
      <vt:lpstr>Practical considerations</vt:lpstr>
      <vt:lpstr>Why pipeline managers?</vt:lpstr>
      <vt:lpstr>Pipeline managers</vt:lpstr>
      <vt:lpstr>Why Nextflow?</vt:lpstr>
      <vt:lpstr>Access to SLURM based HPC?</vt:lpstr>
      <vt:lpstr>Today’s pipeline</vt:lpstr>
      <vt:lpstr>Nextflow components: processes</vt:lpstr>
      <vt:lpstr>Processes</vt:lpstr>
      <vt:lpstr>Nextflow components: channels</vt:lpstr>
      <vt:lpstr>Processes</vt:lpstr>
      <vt:lpstr>Nextflow components: workflows</vt:lpstr>
      <vt:lpstr>Nextflow components: work directory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Touceda Suarez</dc:creator>
  <cp:lastModifiedBy>Maria Touceda Suarez</cp:lastModifiedBy>
  <cp:revision>7</cp:revision>
  <dcterms:created xsi:type="dcterms:W3CDTF">2026-08-19T19:55:00Z</dcterms:created>
  <dcterms:modified xsi:type="dcterms:W3CDTF">2026-08-21T21:09:26Z</dcterms:modified>
</cp:coreProperties>
</file>